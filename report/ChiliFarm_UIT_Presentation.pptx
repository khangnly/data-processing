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Push (Đẩy từ dưới lên - 0.6s)</a:t>
            </a:r>
          </a:p>
          <a:p>
            <a:r>
              <a:t>✨ Animation: Fade In thẻ thông tin, Zoom In ảnh Dashboard</a:t>
            </a:r>
          </a:p>
          <a:p>
            <a:r>
              <a:t>🎤 Speaker Script: Kính chào Thầy Võ Phương Bình và các bạn. Hôm nay nhóm xin đại diện báo cáo đề tài 'Pipeline Phân tích, Tiền xử lý Dữ liệu IoT &amp; Dự báo Đa Tầm Vườn Ớt Thông Minh'. Đề tài xây dựng một hệ thống hoàn chỉnh từ trạm phần cứng IoT thực tế, pipeline tiền xử lý khoa học và mô hình AI dự báo 24 giờ.</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Push (0.6s)</a:t>
            </a:r>
          </a:p>
          <a:p>
            <a:r>
              <a:t>✨ Animation: Fade In từng mục Agenda</a:t>
            </a:r>
          </a:p>
          <a:p>
            <a:r>
              <a:t>🎤 Speaker Script: Bài báo cáo hôm nay gồm 6 nội dung chính, đi từ bối cảnh phần cứng, kiểm toán dữ liệu, các thuật toán tiền xử lý, kiến trúc pipeline cho đến mô hình AI và demo ứng dụng Web.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Push (0.6s)</a:t>
            </a:r>
          </a:p>
          <a:p>
            <a:r>
              <a:t>🎤 Speaker Script: Chúng ta bắt đầu với Phần 1: Bối cảnh nghiên cứu và các thách thức lớn khi triển khai trạm IoT nông nghiệp ngoài thực địa.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Animation: Float In 3 thẻ thông tin</a:t>
            </a:r>
          </a:p>
          <a:p>
            <a:r>
              <a:t>📹 Media: Ảnh động trạm live demo</a:t>
            </a:r>
          </a:p>
          <a:p>
            <a:r>
              <a:t>🎤 Speaker Script: Khi đặt trạm ngoài vườn ớt, chúng tôi đối mặt 2 thách thức lớn: cảm biến hỏng hóc gây mất dữ liệu và xung đột giữa sự kiện bón phân thật với xung nhiễu kỹ thuật.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Push (0.6s)</a:t>
            </a:r>
          </a:p>
          <a:p>
            <a:r>
              <a:t>🎤 Speaker Script: Tiếp theo là Phần 2, chi tiết về tập dữ liệu 75.168 bản ghi và kết quả phân tích khám phá chuyên sâu.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Animation: Zoom In con số 75.168</a:t>
            </a:r>
          </a:p>
          <a:p>
            <a:r>
              <a:t>🎤 Speaker Script: Bộ dữ liệu trải dài 261 ngày với 75.168 mốc 5 phút liên tục, đạt độ phủ lưới 100%, không bị mất mốc.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Animation: Wipe From Left các dòng cảm biến</a:t>
            </a:r>
          </a:p>
          <a:p>
            <a:r>
              <a:t>📹 Media: slide_07_iot_station_sensors.png và station_live_demo.gif</a:t>
            </a:r>
          </a:p>
          <a:p>
            <a:r>
              <a:t>🎤 Speaker Script: Đây là trạm phần cứng thực tế do nhóm tự chế tạo và lắp đặt. Cảm biến 7-in-1 đo 7 chỉ tiêu đất qua chuẩn Modbus RS485, kết hợp DHT22 và quang trở đo tán lá.</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Speaker Script: Chúng ta quản lý 14 biến số: 10 biến đo tại chỗ từ trạm và 4 biến thời tiết ngoại sinh bổ trợ cho mô hình AI.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Speaker Script: Kết quả kiểm toán lưới thời gian cho thấy 0 mốc bị thiếu, 0 mốc trùng lặp. Toàn bộ chuỗi 261 ngày đều có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Speaker Script: Kiểm toán chất lượng phát hiện lỗi vật lý nghiêm trọng: nhiệt độ âm và độ ẩm 0% khi DHT chết. Đây là cơ sở để nhóm xây dựng bộ lọc vật lý.</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Animation: Wipe From Left biểu đồ</a:t>
            </a:r>
          </a:p>
          <a:p>
            <a:r>
              <a:t>🎤 Speaker Script: Biểu đồ xu hướng 261 ngày phản ánh chân thực chu kỳ sinh trưởng của cây ớt: độ ẩm đất được giữ ổn định 45-55%, EC dạng răng cưa sau mỗi lần châm phân.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Speaker Script: Phân tích 24 giờ cho thấy nhiệt độ không khí và đất có độ lệch pha rõ rệt. Nhóm mã hóa sin và cos theo giờ để mô hình học được chu kỳ ngày đêm.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Animation: Zoom In nhẹ ma trận nhiệt</a:t>
            </a:r>
          </a:p>
          <a:p>
            <a:r>
              <a:t>🎤 Speaker Script: Ma trận tương quan hé lộ một phát hiện cốt lõi: N, P, K tương quan gần như tuyệt đối với EC (r trên 0.98), cho thấy cảm biến thực chất đo EC rồi tính ra NPK.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Morph (0.6s) hoặc Fade</a:t>
            </a:r>
          </a:p>
          <a:p>
            <a:r>
              <a:t>🎤 Speaker Script: Phân tích PCA chứng minh PC1 giải thích tới 98.0% phương sai của nhóm NPK và EC. Vì vậy ta có thể rút gọn chiều dữ liệu mà không sợ mất mát thông tin.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Animation: Float Up 3 nhãn Train/Val/Test</a:t>
            </a:r>
          </a:p>
          <a:p>
            <a:r>
              <a:t>🎤 Speaker Script: Chúng tôi kiên quyết tuân thủ nguyên tắc chuỗi thời gian: chia Train, Val và Test theo trục thời gian tuyến tính, nói không với K-fold shuffle.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Push (0.6s)</a:t>
            </a:r>
          </a:p>
          <a:p>
            <a:r>
              <a:t>✨ Animation: Wipe Up biểu đồ cột</a:t>
            </a:r>
          </a:p>
          <a:p>
            <a:r>
              <a:t>🎤 Speaker Script: Trong bài toán điền khuyết, nhóm không đoán mò mà thực nghiệm benchmark: Tuyến tính tối ưu cho đoạn ngắn dưới 3 giờ, còn MICE vượt trội cho đoạn mất dài của 1 cảm biến.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Animation: Zoom In hộp quy tắc đồng thuận</a:t>
            </a:r>
          </a:p>
          <a:p>
            <a:r>
              <a:t>🎤 Speaker Script: Đóng góp kỹ thuật quan trọng của nhóm là cơ chế đồng thuận 3 trên 4 biến EC-NPK. Khi phân bón được hòa tan, cả 4 chỉ số cùng nhảy vọt. Quy tắc này cứu sống 4 đợt bón phân không bị bộ lọc outlier xóa oan.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Morph (0.6s) hoặc Fade</a:t>
            </a:r>
          </a:p>
          <a:p>
            <a:r>
              <a:t>✨ Animation: Wipe From Left tuần tự 6 khối</a:t>
            </a:r>
          </a:p>
          <a:p>
            <a:r>
              <a:t>🎤 Speaker Script: Đây là bức tranh toàn cảnh pipeline 6 giai đoạn của nhóm, khép kín từ khâu tiếp nhận dữ liệu thô, làm sạch, bảo vệ sự kiện, điền khuyết đến dự báo.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Animation: Wipe Up biểu đồ benchmark</a:t>
            </a:r>
          </a:p>
          <a:p>
            <a:r>
              <a:t>🎤 Speaker Script: Về mặt mô hình, tại tầm 1 giờ, XGBoost đạt NRMSE 0.2069, vượt trội mô hình cơ sở Persistence tới 38.9%. Tiền xử lý chuẩn giúp giảm 28.7% sai số.</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Zoom In (0.6s) hoặc Push</a:t>
            </a:r>
          </a:p>
          <a:p>
            <a:r>
              <a:t>📹 Media: slide_20_demo_web_chili_os.png hoặc mở trực tiếp web/index.html</a:t>
            </a:r>
          </a:p>
          <a:p>
            <a:r>
              <a:t>🎤 Speaker Script: Kết quả nghiên cứu được nhóm đóng gói thành Web Dashboard 'Chili Farm OS' với giao diện Digital Twin 3D và khuyến nghị nông học thời gian thực.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Animation: Fade In Cột Đóng góp -&gt; Cột Tương lai</a:t>
            </a:r>
          </a:p>
          <a:p>
            <a:r>
              <a:t>🎤 Speaker Script: Tóm lại, nhóm đã xây dựng thành công trọn gói hệ thống từ trạm IoT phần cứng đến mô hình dự báo và Web OS, đạt hiệu quả cải thiện 38.9% Skill.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Speaker Script: Nhóm xin chân thành cảm ơn Thầy Võ Phương Bình và các bạn đã lắng nghe. Nhóm sẵn sàng nhận câu hỏi và đóng góp từ Hội đồng.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Transition: Fade (0.5s)</a:t>
            </a:r>
          </a:p>
          <a:p>
            <a:r>
              <a:t>🎤 Speaker Script: Slide tài liệu tham khảo chính của đề tài. Xin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gi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gif"/><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234440"/>
            <a:ext cx="5486400" cy="274320"/>
          </a:xfrm>
          <a:prstGeom prst="rect">
            <a:avLst/>
          </a:prstGeom>
          <a:noFill/>
        </p:spPr>
        <p:txBody>
          <a:bodyPr wrap="none" lIns="0" tIns="0">
            <a:spAutoFit/>
          </a:bodyPr>
          <a:lstStyle/>
          <a:p>
            <a:pPr>
              <a:defRPr sz="1100" b="1">
                <a:solidFill>
                  <a:srgbClr val="EA580C"/>
                </a:solidFill>
                <a:latin typeface="Segoe UI"/>
              </a:defRPr>
            </a:pPr>
            <a:r>
              <a:t>B Á O   C Á O   Đ Ề   T À I</a:t>
            </a:r>
          </a:p>
        </p:txBody>
      </p:sp>
      <p:sp>
        <p:nvSpPr>
          <p:cNvPr id="6" name="TextBox 5"/>
          <p:cNvSpPr txBox="1"/>
          <p:nvPr/>
        </p:nvSpPr>
        <p:spPr>
          <a:xfrm>
            <a:off x="548640" y="1554480"/>
            <a:ext cx="5943600" cy="1280160"/>
          </a:xfrm>
          <a:prstGeom prst="rect">
            <a:avLst/>
          </a:prstGeom>
          <a:noFill/>
        </p:spPr>
        <p:txBody>
          <a:bodyPr wrap="square" lIns="0" tIns="0">
            <a:spAutoFit/>
          </a:bodyPr>
          <a:lstStyle/>
          <a:p>
            <a:pPr>
              <a:defRPr sz="2000" b="1">
                <a:solidFill>
                  <a:srgbClr val="0F1E3C"/>
                </a:solidFill>
                <a:latin typeface="Segoe UI"/>
              </a:defRPr>
            </a:pPr>
            <a:r>
              <a:t>Pipeline Phân Tích, Tiền Xử Lý Dữ Liệu IoT &amp; Dự Báo Đa Tầm Vườn Ớt Thông Minh</a:t>
            </a:r>
          </a:p>
        </p:txBody>
      </p:sp>
      <p:sp>
        <p:nvSpPr>
          <p:cNvPr id="7" name="TextBox 6"/>
          <p:cNvSpPr txBox="1"/>
          <p:nvPr/>
        </p:nvSpPr>
        <p:spPr>
          <a:xfrm>
            <a:off x="548640" y="2926080"/>
            <a:ext cx="5943600" cy="365760"/>
          </a:xfrm>
          <a:prstGeom prst="rect">
            <a:avLst/>
          </a:prstGeom>
          <a:noFill/>
        </p:spPr>
        <p:txBody>
          <a:bodyPr wrap="square" lIns="0" tIns="0">
            <a:spAutoFit/>
          </a:bodyPr>
          <a:lstStyle/>
          <a:p>
            <a:pPr>
              <a:defRPr sz="1050" i="1">
                <a:solidFill>
                  <a:srgbClr val="1B4F9A"/>
                </a:solidFill>
                <a:latin typeface="Segoe UI"/>
              </a:defRPr>
            </a:pPr>
            <a:r>
              <a:t>Mục tiêu: Khắc phục lỗi đo cảm biến, lọc bón phân đồng thuận và dự báo 24 giờ tới</a:t>
            </a:r>
          </a:p>
        </p:txBody>
      </p:sp>
      <p:sp>
        <p:nvSpPr>
          <p:cNvPr id="8" name="TextBox 7"/>
          <p:cNvSpPr txBox="1"/>
          <p:nvPr/>
        </p:nvSpPr>
        <p:spPr>
          <a:xfrm>
            <a:off x="548640" y="3246120"/>
            <a:ext cx="5943600" cy="274320"/>
          </a:xfrm>
          <a:prstGeom prst="rect">
            <a:avLst/>
          </a:prstGeom>
          <a:noFill/>
        </p:spPr>
        <p:txBody>
          <a:bodyPr wrap="none" lIns="0" tIns="0">
            <a:spAutoFit/>
          </a:bodyPr>
          <a:lstStyle/>
          <a:p>
            <a:pPr>
              <a:defRPr sz="1000" b="1">
                <a:solidFill>
                  <a:srgbClr val="0F172A"/>
                </a:solidFill>
                <a:latin typeface="Segoe UI"/>
              </a:defRPr>
            </a:pPr>
            <a:r>
              <a:t>Môn học: Kỹ thuật Xử lý Dữ liệu (IT2047.26.1.CH.01)</a:t>
            </a:r>
          </a:p>
        </p:txBody>
      </p:sp>
      <p:sp>
        <p:nvSpPr>
          <p:cNvPr id="9" name="Rounded Rectangle 8"/>
          <p:cNvSpPr/>
          <p:nvPr/>
        </p:nvSpPr>
        <p:spPr>
          <a:xfrm>
            <a:off x="548640" y="3657600"/>
            <a:ext cx="3931920" cy="777240"/>
          </a:xfrm>
          <a:prstGeom prst="roundRect">
            <a:avLst/>
          </a:prstGeom>
          <a:solidFill>
            <a:srgbClr val="EEF6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850" b="1">
                <a:solidFill>
                  <a:srgbClr val="1B4F9A"/>
                </a:solidFill>
                <a:latin typeface="Segoe UI"/>
              </a:defRPr>
            </a:pPr>
            <a:r>
              <a:t>GIẢNG VIÊN HƯỚNG DẪN</a:t>
            </a:r>
          </a:p>
          <a:p>
            <a:pPr>
              <a:defRPr sz="1300" b="1">
                <a:solidFill>
                  <a:srgbClr val="0F1E3C"/>
                </a:solidFill>
                <a:latin typeface="Segoe UI"/>
              </a:defRPr>
            </a:pPr>
            <a:r>
              <a:t>ThS. Võ Phương Bình</a:t>
            </a:r>
          </a:p>
        </p:txBody>
      </p:sp>
      <p:sp>
        <p:nvSpPr>
          <p:cNvPr id="10" name="Rounded Rectangle 9"/>
          <p:cNvSpPr/>
          <p:nvPr/>
        </p:nvSpPr>
        <p:spPr>
          <a:xfrm>
            <a:off x="4617720" y="3657600"/>
            <a:ext cx="1691640" cy="777240"/>
          </a:xfrm>
          <a:prstGeom prst="round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850" b="1">
                <a:solidFill>
                  <a:srgbClr val="BFDBFE"/>
                </a:solidFill>
                <a:latin typeface="Segoe UI"/>
              </a:defRPr>
            </a:pPr>
            <a:r>
              <a:t>LỚP CAO HỌC</a:t>
            </a:r>
          </a:p>
          <a:p>
            <a:pPr algn="ctr">
              <a:defRPr sz="1400" b="1">
                <a:solidFill>
                  <a:srgbClr val="FFFFFF"/>
                </a:solidFill>
                <a:latin typeface="Segoe UI"/>
              </a:defRPr>
            </a:pPr>
            <a:r>
              <a:t>K2025</a:t>
            </a:r>
          </a:p>
        </p:txBody>
      </p:sp>
      <p:sp>
        <p:nvSpPr>
          <p:cNvPr id="11" name="Rounded Rectangle 10"/>
          <p:cNvSpPr/>
          <p:nvPr/>
        </p:nvSpPr>
        <p:spPr>
          <a:xfrm>
            <a:off x="548640" y="4572000"/>
            <a:ext cx="5760720" cy="1645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850" b="1">
                <a:solidFill>
                  <a:srgbClr val="1B4F9A"/>
                </a:solidFill>
                <a:latin typeface="Segoe UI"/>
              </a:defRPr>
            </a:pPr>
            <a:r>
              <a:t>THÀNH VIÊN THỰC HIỆN</a:t>
            </a:r>
          </a:p>
        </p:txBody>
      </p:sp>
      <p:sp>
        <p:nvSpPr>
          <p:cNvPr id="12" name="TextBox 11"/>
          <p:cNvSpPr txBox="1"/>
          <p:nvPr/>
        </p:nvSpPr>
        <p:spPr>
          <a:xfrm>
            <a:off x="731520" y="4892040"/>
            <a:ext cx="2651760" cy="1188720"/>
          </a:xfrm>
          <a:prstGeom prst="rect">
            <a:avLst/>
          </a:prstGeom>
          <a:noFill/>
        </p:spPr>
        <p:txBody>
          <a:bodyPr wrap="none" lIns="0" tIns="0">
            <a:spAutoFit/>
          </a:bodyPr>
          <a:lstStyle/>
          <a:p>
            <a:pPr>
              <a:defRPr sz="950">
                <a:solidFill>
                  <a:srgbClr val="0F172A"/>
                </a:solidFill>
                <a:latin typeface="Segoe UI"/>
              </a:defRPr>
            </a:pPr>
            <a:r>
              <a:t>Nguyễn Đình Quốc Bảo</a:t>
            </a:r>
            <a:br/>
            <a:r>
              <a:t>26848009</a:t>
            </a:r>
            <a:br/>
            <a:br/>
            <a:r>
              <a:t>Nguyễn Lâm Y Khang</a:t>
            </a:r>
            <a:br/>
            <a:r>
              <a:t>250201065</a:t>
            </a:r>
          </a:p>
        </p:txBody>
      </p:sp>
      <p:sp>
        <p:nvSpPr>
          <p:cNvPr id="13" name="TextBox 12"/>
          <p:cNvSpPr txBox="1"/>
          <p:nvPr/>
        </p:nvSpPr>
        <p:spPr>
          <a:xfrm>
            <a:off x="3474720" y="4892040"/>
            <a:ext cx="2651760" cy="1188720"/>
          </a:xfrm>
          <a:prstGeom prst="rect">
            <a:avLst/>
          </a:prstGeom>
          <a:noFill/>
        </p:spPr>
        <p:txBody>
          <a:bodyPr wrap="none" lIns="0" tIns="0">
            <a:spAutoFit/>
          </a:bodyPr>
          <a:lstStyle/>
          <a:p>
            <a:pPr>
              <a:defRPr sz="950">
                <a:solidFill>
                  <a:srgbClr val="0F172A"/>
                </a:solidFill>
                <a:latin typeface="Segoe UI"/>
              </a:defRPr>
            </a:pPr>
            <a:r>
              <a:t>Trần Minh Khôi</a:t>
            </a:r>
            <a:br/>
            <a:r>
              <a:t>250201067</a:t>
            </a:r>
            <a:br/>
            <a:br/>
            <a:r>
              <a:t>Trương Hoàng Duy</a:t>
            </a:r>
            <a:br/>
            <a:r>
              <a:t>26848055</a:t>
            </a:r>
          </a:p>
        </p:txBody>
      </p:sp>
      <p:pic>
        <p:nvPicPr>
          <p:cNvPr id="14" name="Picture 13" descr="slide_20_demo_web_chili_os.png"/>
          <p:cNvPicPr>
            <a:picLocks noChangeAspect="1"/>
          </p:cNvPicPr>
          <p:nvPr/>
        </p:nvPicPr>
        <p:blipFill>
          <a:blip r:embed="rId3"/>
          <a:stretch>
            <a:fillRect/>
          </a:stretch>
        </p:blipFill>
        <p:spPr>
          <a:xfrm>
            <a:off x="6583680" y="1188720"/>
            <a:ext cx="5120640" cy="329039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02. Nội Dung Báo Cáo (Agenda)</a:t>
            </a:r>
          </a:p>
          <a:p>
            <a:pPr>
              <a:defRPr sz="1000" i="1">
                <a:solidFill>
                  <a:srgbClr val="1B4F9A"/>
                </a:solidFill>
                <a:latin typeface="Segoe UI"/>
              </a:defRPr>
            </a:pPr>
            <a:r>
              <a:t>6 giai đoạn thực hiện đề tài</a:t>
            </a:r>
          </a:p>
        </p:txBody>
      </p:sp>
      <p:sp>
        <p:nvSpPr>
          <p:cNvPr id="6" name="TextBox 5"/>
          <p:cNvSpPr txBox="1"/>
          <p:nvPr/>
        </p:nvSpPr>
        <p:spPr>
          <a:xfrm>
            <a:off x="548640" y="1828800"/>
            <a:ext cx="10972800" cy="4389120"/>
          </a:xfrm>
          <a:prstGeom prst="rect">
            <a:avLst/>
          </a:prstGeom>
          <a:noFill/>
        </p:spPr>
        <p:txBody>
          <a:bodyPr wrap="square" lIns="0" tIns="0">
            <a:spAutoFit/>
          </a:bodyPr>
          <a:lstStyle/>
          <a:p>
            <a:pPr>
              <a:spcAft>
                <a:spcPts val="1200"/>
              </a:spcAft>
            </a:pPr>
            <a:r>
              <a:rPr sz="1150" b="1">
                <a:solidFill>
                  <a:srgbClr val="0F1E3C"/>
                </a:solidFill>
                <a:latin typeface="Segoe UI"/>
              </a:rPr>
              <a:t>01. Tổng quan &amp; Mục tiêu:</a:t>
            </a:r>
            <a:r>
              <a:rPr sz="1150" b="0">
                <a:solidFill>
                  <a:srgbClr val="0F172A"/>
                </a:solidFill>
                <a:latin typeface="Segoe UI"/>
              </a:rPr>
              <a:t> Đặt vấn đề canh tác ớt thông minh và thách thức dữ liệu thực tế.</a:t>
            </a:r>
          </a:p>
          <a:p>
            <a:pPr>
              <a:spcAft>
                <a:spcPts val="1200"/>
              </a:spcAft>
            </a:pPr>
            <a:r>
              <a:rPr sz="1150" b="1">
                <a:solidFill>
                  <a:srgbClr val="0F1E3C"/>
                </a:solidFill>
                <a:latin typeface="Segoe UI"/>
              </a:rPr>
              <a:t>02. Khám phá dữ liệu (EDA):</a:t>
            </a:r>
            <a:r>
              <a:rPr sz="1150" b="0">
                <a:solidFill>
                  <a:srgbClr val="0F172A"/>
                </a:solidFill>
                <a:latin typeface="Segoe UI"/>
              </a:rPr>
              <a:t> Kiểm toán chuỗi 261 ngày (75.168 mốc) và 5 quy luật nông học then chốt.</a:t>
            </a:r>
          </a:p>
          <a:p>
            <a:pPr>
              <a:spcAft>
                <a:spcPts val="1200"/>
              </a:spcAft>
            </a:pPr>
            <a:r>
              <a:rPr sz="1150" b="1">
                <a:solidFill>
                  <a:srgbClr val="0F1E3C"/>
                </a:solidFill>
                <a:latin typeface="Segoe UI"/>
              </a:rPr>
              <a:t>03. Kỹ thuật tiền xử lý:</a:t>
            </a:r>
            <a:r>
              <a:rPr sz="1150" b="0">
                <a:solidFill>
                  <a:srgbClr val="0F172A"/>
                </a:solidFill>
                <a:latin typeface="Segoe UI"/>
              </a:rPr>
              <a:t> Bộ lọc lỗi 3 lớp, bảo vệ đợt bón phân đồng thuận và benchmark điền khuyết.</a:t>
            </a:r>
          </a:p>
          <a:p>
            <a:pPr>
              <a:spcAft>
                <a:spcPts val="1200"/>
              </a:spcAft>
            </a:pPr>
            <a:r>
              <a:rPr sz="1150" b="1">
                <a:solidFill>
                  <a:srgbClr val="0F1E3C"/>
                </a:solidFill>
                <a:latin typeface="Segoe UI"/>
              </a:rPr>
              <a:t>04. Kiến trúc Pipeline:</a:t>
            </a:r>
            <a:r>
              <a:rPr sz="1150" b="0">
                <a:solidFill>
                  <a:srgbClr val="0F172A"/>
                </a:solidFill>
                <a:latin typeface="Segoe UI"/>
              </a:rPr>
              <a:t> Quy trình 6 bước chuẩn hóa từ dữ liệu thô Firebase đến dữ liệu sẵn sàng cho AI.</a:t>
            </a:r>
          </a:p>
          <a:p>
            <a:pPr>
              <a:spcAft>
                <a:spcPts val="1200"/>
              </a:spcAft>
            </a:pPr>
            <a:r>
              <a:rPr sz="1150" b="1">
                <a:solidFill>
                  <a:srgbClr val="0F1E3C"/>
                </a:solidFill>
                <a:latin typeface="Segoe UI"/>
              </a:rPr>
              <a:t>05. Mô hình &amp; Dự báo 24h:</a:t>
            </a:r>
            <a:r>
              <a:rPr sz="1150" b="0">
                <a:solidFill>
                  <a:srgbClr val="0F172A"/>
                </a:solidFill>
                <a:latin typeface="Segoe UI"/>
              </a:rPr>
              <a:t> So sánh 5 mô hình máy học, chiến lược Direct Knots và dải bất định P10-P90.</a:t>
            </a:r>
          </a:p>
          <a:p>
            <a:pPr>
              <a:spcAft>
                <a:spcPts val="1200"/>
              </a:spcAft>
            </a:pPr>
            <a:r>
              <a:rPr sz="1150" b="1">
                <a:solidFill>
                  <a:srgbClr val="0F1E3C"/>
                </a:solidFill>
                <a:latin typeface="Segoe UI"/>
              </a:rPr>
              <a:t>06. Web Dashboard &amp; Kết luận:</a:t>
            </a:r>
            <a:r>
              <a:rPr sz="1150" b="0">
                <a:solidFill>
                  <a:srgbClr val="0F172A"/>
                </a:solidFill>
                <a:latin typeface="Segoe UI"/>
              </a:rPr>
              <a:t> Hệ thống điều hành Chili Farm OS và định hướng mở rộng nghiên cứu.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03. PHẦN 01 — TỔNG QUAN ĐỀ TÀI</a:t>
            </a:r>
          </a:p>
          <a:p>
            <a:pPr>
              <a:defRPr sz="1000" i="1">
                <a:solidFill>
                  <a:srgbClr val="1B4F9A"/>
                </a:solidFill>
                <a:latin typeface="Segoe UI"/>
              </a:defRPr>
            </a:pPr>
            <a:r>
              <a:t>Bối cảnh thực tiễn, phát biểu bài toán và mục tiêu giải pháp</a:t>
            </a:r>
          </a:p>
        </p:txBody>
      </p:sp>
      <p:sp>
        <p:nvSpPr>
          <p:cNvPr id="6" name="TextBox 5"/>
          <p:cNvSpPr txBox="1"/>
          <p:nvPr/>
        </p:nvSpPr>
        <p:spPr>
          <a:xfrm>
            <a:off x="548640" y="1828800"/>
            <a:ext cx="10972800" cy="4389120"/>
          </a:xfrm>
          <a:prstGeom prst="rect">
            <a:avLst/>
          </a:prstGeom>
          <a:noFill/>
        </p:spPr>
        <p:txBody>
          <a:bodyPr wrap="square" lIns="0" tIns="0">
            <a:spAutoFit/>
          </a:bodyPr>
          <a:lstStyle/>
          <a:p>
            <a:pPr>
              <a:spcAft>
                <a:spcPts val="1200"/>
              </a:spcAft>
            </a:pPr>
            <a:r>
              <a:rPr sz="1150" b="1">
                <a:solidFill>
                  <a:srgbClr val="0F1E3C"/>
                </a:solidFill>
                <a:latin typeface="Segoe UI"/>
              </a:rPr>
              <a:t>Bối cảnh nông nghiệp 4.0:</a:t>
            </a:r>
            <a:r>
              <a:rPr sz="1150" b="0">
                <a:solidFill>
                  <a:srgbClr val="0F172A"/>
                </a:solidFill>
                <a:latin typeface="Segoe UI"/>
              </a:rPr>
              <a:t> Vườn ớt công nghệ cao đòi hỏi kiểm soát vi khí hậu và dinh dưỡng rễ cây liên tục.</a:t>
            </a:r>
          </a:p>
          <a:p>
            <a:pPr>
              <a:spcAft>
                <a:spcPts val="1200"/>
              </a:spcAft>
            </a:pPr>
            <a:r>
              <a:rPr sz="1150" b="1">
                <a:solidFill>
                  <a:srgbClr val="0F1E3C"/>
                </a:solidFill>
                <a:latin typeface="Segoe UI"/>
              </a:rPr>
              <a:t>Vấn đề cốt lõi:</a:t>
            </a:r>
            <a:r>
              <a:rPr sz="1150" b="0">
                <a:solidFill>
                  <a:srgbClr val="0F172A"/>
                </a:solidFill>
                <a:latin typeface="Segoe UI"/>
              </a:rPr>
              <a:t> Cảm biến thực tế hay bị lỗi chết, kẹt và trôi tín hiệu; bón phân qua nước tưới tạo xung vọt dễ bị lọc nhầm.</a:t>
            </a:r>
          </a:p>
          <a:p>
            <a:pPr>
              <a:spcAft>
                <a:spcPts val="1200"/>
              </a:spcAft>
            </a:pPr>
            <a:r>
              <a:rPr sz="1150" b="1">
                <a:solidFill>
                  <a:srgbClr val="0F1E3C"/>
                </a:solidFill>
                <a:latin typeface="Segoe UI"/>
              </a:rPr>
              <a:t>Mục tiêu nghiên cứu:</a:t>
            </a:r>
            <a:r>
              <a:rPr sz="1150" b="0">
                <a:solidFill>
                  <a:srgbClr val="0F172A"/>
                </a:solidFill>
                <a:latin typeface="Segoe UI"/>
              </a:rPr>
              <a:t> Chế tạo trạm IoT thực nghiệm, xây dựng pipeline lọc sạch dữ liệu có cơ sở khoa học và dự báo sớm 24 giờ.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04. Đặt Vấn Đề &amp; Thách Thức Thực Tế</a:t>
            </a:r>
          </a:p>
          <a:p>
            <a:pPr>
              <a:defRPr sz="1000" i="1">
                <a:solidFill>
                  <a:srgbClr val="1B4F9A"/>
                </a:solidFill>
                <a:latin typeface="Segoe UI"/>
              </a:defRPr>
            </a:pPr>
            <a:r>
              <a:t>Bối cảnh canh tác thông minh, thách thức đo đạc và mục tiêu</a:t>
            </a:r>
          </a:p>
        </p:txBody>
      </p:sp>
      <p:pic>
        <p:nvPicPr>
          <p:cNvPr id="6" name="Picture 5" descr="station_live_demo.gif"/>
          <p:cNvPicPr>
            <a:picLocks noChangeAspect="1"/>
          </p:cNvPicPr>
          <p:nvPr/>
        </p:nvPicPr>
        <p:blipFill>
          <a:blip r:embed="rId3"/>
          <a:stretch>
            <a:fillRect/>
          </a:stretch>
        </p:blipFill>
        <p:spPr>
          <a:xfrm>
            <a:off x="4114800" y="1828800"/>
            <a:ext cx="7498079" cy="4221141"/>
          </a:xfrm>
          <a:prstGeom prst="rect">
            <a:avLst/>
          </a:prstGeom>
        </p:spPr>
      </p:pic>
      <p:sp>
        <p:nvSpPr>
          <p:cNvPr id="7" name="TextBox 6"/>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Bối cảnh trạm thực địa:</a:t>
            </a:r>
            <a:r>
              <a:rPr sz="919" b="0">
                <a:solidFill>
                  <a:srgbClr val="0F172A"/>
                </a:solidFill>
                <a:latin typeface="Segoe UI"/>
              </a:rPr>
              <a:t> Thu thập 10 chỉ số lý hóa đất &amp; vi khí hậu chu kỳ 5 phút/lần bằng bo mạch ESP32.</a:t>
            </a:r>
          </a:p>
          <a:p>
            <a:pPr>
              <a:spcAft>
                <a:spcPts val="800"/>
              </a:spcAft>
            </a:pPr>
            <a:r>
              <a:rPr sz="919" b="1">
                <a:solidFill>
                  <a:srgbClr val="0F1E3C"/>
                </a:solidFill>
                <a:latin typeface="Segoe UI"/>
              </a:rPr>
              <a:t>Thách thức lỗi đo:</a:t>
            </a:r>
            <a:r>
              <a:rPr sz="919" b="0">
                <a:solidFill>
                  <a:srgbClr val="0F172A"/>
                </a:solidFill>
                <a:latin typeface="Segoe UI"/>
              </a:rPr>
              <a:t> 814 dòng DHT chết về 0, cảm biến kẹt giá trị &gt;= 60 phút, xung nhọn do nhiễu điện từ.</a:t>
            </a:r>
          </a:p>
          <a:p>
            <a:pPr>
              <a:spcAft>
                <a:spcPts val="800"/>
              </a:spcAft>
            </a:pPr>
            <a:r>
              <a:rPr sz="919" b="1">
                <a:solidFill>
                  <a:srgbClr val="0F1E3C"/>
                </a:solidFill>
                <a:latin typeface="Segoe UI"/>
              </a:rPr>
              <a:t>Thách thức xung đột nông học:</a:t>
            </a:r>
            <a:r>
              <a:rPr sz="919" b="0">
                <a:solidFill>
                  <a:srgbClr val="0F172A"/>
                </a:solidFill>
                <a:latin typeface="Segoe UI"/>
              </a:rPr>
              <a:t> Bón phân làm EC &amp; NPK tăng vọt -&gt; Bộ lọc thông thường (IQR/Z-score) xóa nhầm dữ liệu thật.</a:t>
            </a:r>
          </a:p>
          <a:p>
            <a:pPr>
              <a:spcAft>
                <a:spcPts val="800"/>
              </a:spcAft>
            </a:pPr>
            <a:r>
              <a:rPr sz="919" b="1">
                <a:solidFill>
                  <a:srgbClr val="0F1E3C"/>
                </a:solidFill>
                <a:latin typeface="Segoe UI"/>
              </a:rPr>
              <a:t>Mục tiêu giải pháp:</a:t>
            </a:r>
            <a:r>
              <a:rPr sz="919" b="0">
                <a:solidFill>
                  <a:srgbClr val="0F172A"/>
                </a:solidFill>
                <a:latin typeface="Segoe UI"/>
              </a:rPr>
              <a:t> Pipeline lọc đa tầng có kiểm chứng và mô hình AI dự báo trực tiếp 24 giờ tới.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05. PHẦN 02 — TẬP DỮ LIỆU IOT-AGRICULTURE</a:t>
            </a:r>
          </a:p>
          <a:p>
            <a:pPr>
              <a:defRPr sz="1000" i="1">
                <a:solidFill>
                  <a:srgbClr val="1B4F9A"/>
                </a:solidFill>
                <a:latin typeface="Segoe UI"/>
              </a:defRPr>
            </a:pPr>
            <a:r>
              <a:t>Quy mô chuỗi thời gian 261 ngày, kiểm toán chất lượng và phân tích EDA</a:t>
            </a:r>
          </a:p>
        </p:txBody>
      </p:sp>
      <p:sp>
        <p:nvSpPr>
          <p:cNvPr id="6" name="TextBox 5"/>
          <p:cNvSpPr txBox="1"/>
          <p:nvPr/>
        </p:nvSpPr>
        <p:spPr>
          <a:xfrm>
            <a:off x="548640" y="1828800"/>
            <a:ext cx="10972800" cy="4389120"/>
          </a:xfrm>
          <a:prstGeom prst="rect">
            <a:avLst/>
          </a:prstGeom>
          <a:noFill/>
        </p:spPr>
        <p:txBody>
          <a:bodyPr wrap="square" lIns="0" tIns="0">
            <a:spAutoFit/>
          </a:bodyPr>
          <a:lstStyle/>
          <a:p>
            <a:pPr>
              <a:spcAft>
                <a:spcPts val="1200"/>
              </a:spcAft>
            </a:pPr>
            <a:r>
              <a:rPr sz="1150" b="1">
                <a:solidFill>
                  <a:srgbClr val="0F1E3C"/>
                </a:solidFill>
                <a:latin typeface="Segoe UI"/>
              </a:rPr>
              <a:t>Quy mô dữ liệu:</a:t>
            </a:r>
            <a:r>
              <a:rPr sz="1150" b="0">
                <a:solidFill>
                  <a:srgbClr val="0F172A"/>
                </a:solidFill>
                <a:latin typeface="Segoe UI"/>
              </a:rPr>
              <a:t> 75.168 mốc thời gian liên tục 5 phút từ 14/12/2025 đến 31/08/2026.</a:t>
            </a:r>
          </a:p>
          <a:p>
            <a:pPr>
              <a:spcAft>
                <a:spcPts val="1200"/>
              </a:spcAft>
            </a:pPr>
            <a:r>
              <a:rPr sz="1150" b="1">
                <a:solidFill>
                  <a:srgbClr val="0F1E3C"/>
                </a:solidFill>
                <a:latin typeface="Segoe UI"/>
              </a:rPr>
              <a:t>Ngoại sinh đồng bộ:</a:t>
            </a:r>
            <a:r>
              <a:rPr sz="1150" b="0">
                <a:solidFill>
                  <a:srgbClr val="0F172A"/>
                </a:solidFill>
                <a:latin typeface="Segoe UI"/>
              </a:rPr>
              <a:t> Tích hợp 4 biến khí tượng TP.HCM từ Open-Meteo (Bức xạ, Nhiệt độ, Độ ẩm, Mưa).</a:t>
            </a:r>
          </a:p>
          <a:p>
            <a:pPr>
              <a:spcAft>
                <a:spcPts val="1200"/>
              </a:spcAft>
            </a:pPr>
            <a:r>
              <a:rPr sz="1150" b="1">
                <a:solidFill>
                  <a:srgbClr val="0F1E3C"/>
                </a:solidFill>
                <a:latin typeface="Segoe UI"/>
              </a:rPr>
              <a:t>Phân tích chuyên sâu:</a:t>
            </a:r>
            <a:r>
              <a:rPr sz="1150" b="0">
                <a:solidFill>
                  <a:srgbClr val="0F172A"/>
                </a:solidFill>
                <a:latin typeface="Segoe UI"/>
              </a:rPr>
              <a:t> 5 biểu đồ EDA trực quan hóa xu hướng chuỗi, chu kỳ ngày/đêm, ma trận tương quan và PCA.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06. Quy Mô Dữ Liệu: 75.168 Bản Ghi Chuỗi Thời Gian</a:t>
            </a:r>
          </a:p>
          <a:p>
            <a:pPr>
              <a:defRPr sz="1000" i="1">
                <a:solidFill>
                  <a:srgbClr val="1B4F9A"/>
                </a:solidFill>
                <a:latin typeface="Segoe UI"/>
              </a:defRPr>
            </a:pPr>
            <a:r>
              <a:t>Độ phủ lưới thời gian 100% — Không thiếu mốc, không trùng lặp</a:t>
            </a:r>
          </a:p>
        </p:txBody>
      </p:sp>
      <p:pic>
        <p:nvPicPr>
          <p:cNvPr id="6" name="Picture 5" descr="slide_15_eda_monthly_events.png"/>
          <p:cNvPicPr>
            <a:picLocks noChangeAspect="1"/>
          </p:cNvPicPr>
          <p:nvPr/>
        </p:nvPicPr>
        <p:blipFill>
          <a:blip r:embed="rId3"/>
          <a:stretch>
            <a:fillRect/>
          </a:stretch>
        </p:blipFill>
        <p:spPr>
          <a:xfrm>
            <a:off x="4114800" y="1828800"/>
            <a:ext cx="7498079" cy="4217669"/>
          </a:xfrm>
          <a:prstGeom prst="rect">
            <a:avLst/>
          </a:prstGeom>
        </p:spPr>
      </p:pic>
      <p:sp>
        <p:nvSpPr>
          <p:cNvPr id="7" name="TextBox 6"/>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Tổng số mốc thời gian:</a:t>
            </a:r>
            <a:r>
              <a:rPr sz="919" b="0">
                <a:solidFill>
                  <a:srgbClr val="0F172A"/>
                </a:solidFill>
                <a:latin typeface="Segoe UI"/>
              </a:rPr>
              <a:t> 75.168 mốc (261 ngày liên tục, bước nhảy chính xác 5 phút).</a:t>
            </a:r>
          </a:p>
          <a:p>
            <a:pPr>
              <a:spcAft>
                <a:spcPts val="800"/>
              </a:spcAft>
            </a:pPr>
            <a:r>
              <a:rPr sz="919" b="1">
                <a:solidFill>
                  <a:srgbClr val="0F1E3C"/>
                </a:solidFill>
                <a:latin typeface="Segoe UI"/>
              </a:rPr>
              <a:t>Độ phủ lưới thời gian:</a:t>
            </a:r>
            <a:r>
              <a:rPr sz="919" b="0">
                <a:solidFill>
                  <a:srgbClr val="0F172A"/>
                </a:solidFill>
                <a:latin typeface="Segoe UI"/>
              </a:rPr>
              <a:t> Đạt chuẩn 100.0% (0 bản ghi trùng lặp, 0 bước nhảy bị bỏ sót).</a:t>
            </a:r>
          </a:p>
          <a:p>
            <a:pPr>
              <a:spcAft>
                <a:spcPts val="800"/>
              </a:spcAft>
            </a:pPr>
            <a:r>
              <a:rPr sz="919" b="1">
                <a:solidFill>
                  <a:srgbClr val="0F1E3C"/>
                </a:solidFill>
                <a:latin typeface="Segoe UI"/>
              </a:rPr>
              <a:t>Tích hợp khí tượng:</a:t>
            </a:r>
            <a:r>
              <a:rPr sz="919" b="0">
                <a:solidFill>
                  <a:srgbClr val="0F172A"/>
                </a:solidFill>
                <a:latin typeface="Segoe UI"/>
              </a:rPr>
              <a:t> Ghép đồng bộ 4 biến Open-Meteo (Bức xạ mặt trời, Nhiệt độ, Độ ẩm khí tượng, Mưa 5 phút).</a:t>
            </a:r>
          </a:p>
          <a:p>
            <a:pPr>
              <a:spcAft>
                <a:spcPts val="800"/>
              </a:spcAft>
            </a:pPr>
            <a:r>
              <a:rPr sz="919" b="1">
                <a:solidFill>
                  <a:srgbClr val="0F1E3C"/>
                </a:solidFill>
                <a:latin typeface="Segoe UI"/>
              </a:rPr>
              <a:t>Phân chia chuẩn nhân quả:</a:t>
            </a:r>
            <a:r>
              <a:rPr sz="919" b="0">
                <a:solidFill>
                  <a:srgbClr val="0F172A"/>
                </a:solidFill>
                <a:latin typeface="Segoe UI"/>
              </a:rPr>
              <a:t> Train (57.312 dòng, ~6.5 tháng) -&gt; Val (Tháng 7, 8.928 dòng) -&gt; Test (Tháng 8, 8.928 dòng).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07. Trạm Quan Trắc Thực Địa &amp; Danh Mục Cảm Biến</a:t>
            </a:r>
          </a:p>
          <a:p>
            <a:pPr>
              <a:defRPr sz="1000" i="1">
                <a:solidFill>
                  <a:srgbClr val="1B4F9A"/>
                </a:solidFill>
                <a:latin typeface="Segoe UI"/>
              </a:defRPr>
            </a:pPr>
            <a:r>
              <a:t>Bo mạch ESP32, Buck XL1509, Cảm biến đất 7-in-1 Modbus RS485</a:t>
            </a:r>
          </a:p>
        </p:txBody>
      </p:sp>
      <p:pic>
        <p:nvPicPr>
          <p:cNvPr id="6" name="Picture 5" descr="slide_07_iot_station_sensors.png"/>
          <p:cNvPicPr>
            <a:picLocks noChangeAspect="1"/>
          </p:cNvPicPr>
          <p:nvPr/>
        </p:nvPicPr>
        <p:blipFill>
          <a:blip r:embed="rId3"/>
          <a:stretch>
            <a:fillRect/>
          </a:stretch>
        </p:blipFill>
        <p:spPr>
          <a:xfrm>
            <a:off x="4114800" y="1828800"/>
            <a:ext cx="7498079" cy="3208823"/>
          </a:xfrm>
          <a:prstGeom prst="rect">
            <a:avLst/>
          </a:prstGeom>
        </p:spPr>
      </p:pic>
      <p:pic>
        <p:nvPicPr>
          <p:cNvPr id="7" name="Picture 6" descr="station_live_demo.gif"/>
          <p:cNvPicPr>
            <a:picLocks noChangeAspect="1"/>
          </p:cNvPicPr>
          <p:nvPr/>
        </p:nvPicPr>
        <p:blipFill>
          <a:blip r:embed="rId4"/>
          <a:stretch>
            <a:fillRect/>
          </a:stretch>
        </p:blipFill>
        <p:spPr>
          <a:xfrm>
            <a:off x="8961120" y="4206240"/>
            <a:ext cx="2560320" cy="1441365"/>
          </a:xfrm>
          <a:prstGeom prst="rect">
            <a:avLst/>
          </a:prstGeom>
        </p:spPr>
      </p:pic>
      <p:sp>
        <p:nvSpPr>
          <p:cNvPr id="8" name="TextBox 7"/>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Cảm biến đất 7-in-1 Công nghiệp:</a:t>
            </a:r>
            <a:r>
              <a:rPr sz="919" b="0">
                <a:solidFill>
                  <a:srgbClr val="0F172A"/>
                </a:solidFill>
                <a:latin typeface="Segoe UI"/>
              </a:rPr>
              <a:t> Đo Độ ẩm đất (%VWC), Nhiệt đất (°C), EC (mS/cm), pH, N, P, K (mg/kg) qua RS485 Modbus.</a:t>
            </a:r>
          </a:p>
          <a:p>
            <a:pPr>
              <a:spcAft>
                <a:spcPts val="800"/>
              </a:spcAft>
            </a:pPr>
            <a:r>
              <a:rPr sz="919" b="1">
                <a:solidFill>
                  <a:srgbClr val="0F1E3C"/>
                </a:solidFill>
                <a:latin typeface="Segoe UI"/>
              </a:rPr>
              <a:t>Cảm biến vi khí hậu:</a:t>
            </a:r>
            <a:r>
              <a:rPr sz="919" b="0">
                <a:solidFill>
                  <a:srgbClr val="0F172A"/>
                </a:solidFill>
                <a:latin typeface="Segoe UI"/>
              </a:rPr>
              <a:t> Nhiệt độ tán lá (°C), Độ ẩm không khí (%RH) qua DHT22, Cường độ ánh sáng (klux).</a:t>
            </a:r>
          </a:p>
          <a:p>
            <a:pPr>
              <a:spcAft>
                <a:spcPts val="800"/>
              </a:spcAft>
            </a:pPr>
            <a:r>
              <a:rPr sz="919" b="1">
                <a:solidFill>
                  <a:srgbClr val="0F1E3C"/>
                </a:solidFill>
                <a:latin typeface="Segoe UI"/>
              </a:rPr>
              <a:t>Khối xử lý &amp; Hiển thị:</a:t>
            </a:r>
            <a:r>
              <a:rPr sz="919" b="0">
                <a:solidFill>
                  <a:srgbClr val="0F172A"/>
                </a:solidFill>
                <a:latin typeface="Segoe UI"/>
              </a:rPr>
              <a:t> ESP32 Dual-Core, hạ áp Buck XL1509 ổn định nguồn, màn hình LCD điều khiển tại chỗ.</a:t>
            </a:r>
          </a:p>
          <a:p>
            <a:pPr>
              <a:spcAft>
                <a:spcPts val="800"/>
              </a:spcAft>
            </a:pPr>
            <a:r>
              <a:rPr sz="919" b="1">
                <a:solidFill>
                  <a:srgbClr val="0F1E3C"/>
                </a:solidFill>
                <a:latin typeface="Segoe UI"/>
              </a:rPr>
              <a:t>Đẩy dữ liệu đám mây:</a:t>
            </a:r>
            <a:r>
              <a:rPr sz="919" b="0">
                <a:solidFill>
                  <a:srgbClr val="0F172A"/>
                </a:solidFill>
                <a:latin typeface="Segoe UI"/>
              </a:rPr>
              <a:t> Tự động truyền thời gian thực lên Firebase Realtime Database qua Wi-Fi/4G chu kỳ 5 phút.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08. Data Features: 14 Đặc Trưng Dữ Liệu Thu Thập</a:t>
            </a:r>
          </a:p>
          <a:p>
            <a:pPr>
              <a:defRPr sz="1000" i="1">
                <a:solidFill>
                  <a:srgbClr val="1B4F9A"/>
                </a:solidFill>
                <a:latin typeface="Segoe UI"/>
              </a:defRPr>
            </a:pPr>
            <a:r>
              <a:t>10 chỉ số cảm biến vật lý trạm IoT + 4 chỉ số thời tiết ngoại sinh</a:t>
            </a:r>
          </a:p>
        </p:txBody>
      </p:sp>
      <p:sp>
        <p:nvSpPr>
          <p:cNvPr id="6" name="TextBox 5"/>
          <p:cNvSpPr txBox="1"/>
          <p:nvPr/>
        </p:nvSpPr>
        <p:spPr>
          <a:xfrm>
            <a:off x="548640" y="1828800"/>
            <a:ext cx="10972800" cy="4389120"/>
          </a:xfrm>
          <a:prstGeom prst="rect">
            <a:avLst/>
          </a:prstGeom>
          <a:noFill/>
        </p:spPr>
        <p:txBody>
          <a:bodyPr wrap="square" lIns="0" tIns="0">
            <a:spAutoFit/>
          </a:bodyPr>
          <a:lstStyle/>
          <a:p>
            <a:pPr>
              <a:spcAft>
                <a:spcPts val="1200"/>
              </a:spcAft>
            </a:pPr>
            <a:r>
              <a:rPr sz="1150" b="1">
                <a:solidFill>
                  <a:srgbClr val="0F1E3C"/>
                </a:solidFill>
                <a:latin typeface="Segoe UI"/>
              </a:rPr>
              <a:t>Nhóm cảm biến đất:</a:t>
            </a:r>
            <a:r>
              <a:rPr sz="1150" b="0">
                <a:solidFill>
                  <a:srgbClr val="0F172A"/>
                </a:solidFill>
                <a:latin typeface="Segoe UI"/>
              </a:rPr>
              <a:t> moisture (1-70 %VWC), soiltemp (15-40 °C), pH (3.0-9.5), EC (0.0-4.0 mS/cm), N, P, K (mg/kg).</a:t>
            </a:r>
          </a:p>
          <a:p>
            <a:pPr>
              <a:spcAft>
                <a:spcPts val="1200"/>
              </a:spcAft>
            </a:pPr>
            <a:r>
              <a:rPr sz="1150" b="1">
                <a:solidFill>
                  <a:srgbClr val="0F1E3C"/>
                </a:solidFill>
                <a:latin typeface="Segoe UI"/>
              </a:rPr>
              <a:t>Nhóm cảm biến tán lá:</a:t>
            </a:r>
            <a:r>
              <a:rPr sz="1150" b="0">
                <a:solidFill>
                  <a:srgbClr val="0F172A"/>
                </a:solidFill>
                <a:latin typeface="Segoe UI"/>
              </a:rPr>
              <a:t> temperature (5-48 °C), humidity (5-100 %RH), light (0-30 klux).</a:t>
            </a:r>
          </a:p>
          <a:p>
            <a:pPr>
              <a:spcAft>
                <a:spcPts val="1200"/>
              </a:spcAft>
            </a:pPr>
            <a:r>
              <a:rPr sz="1150" b="1">
                <a:solidFill>
                  <a:srgbClr val="0F1E3C"/>
                </a:solidFill>
                <a:latin typeface="Segoe UI"/>
              </a:rPr>
              <a:t>Nhóm khí tượng ngoại sinh:</a:t>
            </a:r>
            <a:r>
              <a:rPr sz="1150" b="0">
                <a:solidFill>
                  <a:srgbClr val="0F172A"/>
                </a:solidFill>
                <a:latin typeface="Segoe UI"/>
              </a:rPr>
              <a:t> w_rad (Bức xạ mặt trời W/m²), w_air_T (°C), w_air_RH (%RH), w_rain_5min (mm mưa).</a:t>
            </a:r>
          </a:p>
          <a:p>
            <a:pPr>
              <a:spcAft>
                <a:spcPts val="1200"/>
              </a:spcAft>
            </a:pPr>
            <a:r>
              <a:rPr sz="1150" b="1">
                <a:solidFill>
                  <a:srgbClr val="0F1E3C"/>
                </a:solidFill>
                <a:latin typeface="Segoe UI"/>
              </a:rPr>
              <a:t>Đặc tính đo lường:</a:t>
            </a:r>
            <a:r>
              <a:rPr sz="1150" b="0">
                <a:solidFill>
                  <a:srgbClr val="0F172A"/>
                </a:solidFill>
                <a:latin typeface="Segoe UI"/>
              </a:rPr>
              <a:t> Chu kỳ lấy mẫu 5 phút/lần, giá trị đại diện cho trạng thái lý hóa vùng rễ và vi khí hậu vi mô.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09. Data Coverage: Kiểm Toán Lưới Thời Gian 5 Phút</a:t>
            </a:r>
          </a:p>
          <a:p>
            <a:pPr>
              <a:defRPr sz="1000" i="1">
                <a:solidFill>
                  <a:srgbClr val="1B4F9A"/>
                </a:solidFill>
                <a:latin typeface="Segoe UI"/>
              </a:defRPr>
            </a:pPr>
            <a:r>
              <a:t>Xác nhận 100% độ phủ thời gian qua 9 tháng ghi nhận</a:t>
            </a:r>
          </a:p>
        </p:txBody>
      </p:sp>
      <p:sp>
        <p:nvSpPr>
          <p:cNvPr id="6" name="TextBox 5"/>
          <p:cNvSpPr txBox="1"/>
          <p:nvPr/>
        </p:nvSpPr>
        <p:spPr>
          <a:xfrm>
            <a:off x="548640" y="1828800"/>
            <a:ext cx="10972800" cy="4389120"/>
          </a:xfrm>
          <a:prstGeom prst="rect">
            <a:avLst/>
          </a:prstGeom>
          <a:noFill/>
        </p:spPr>
        <p:txBody>
          <a:bodyPr wrap="square" lIns="0" tIns="0">
            <a:spAutoFit/>
          </a:bodyPr>
          <a:lstStyle/>
          <a:p>
            <a:pPr>
              <a:spcAft>
                <a:spcPts val="1200"/>
              </a:spcAft>
            </a:pPr>
            <a:r>
              <a:rPr sz="1150" b="1">
                <a:solidFill>
                  <a:srgbClr val="0F1E3C"/>
                </a:solidFill>
                <a:latin typeface="Segoe UI"/>
              </a:rPr>
              <a:t>Lưới thời gian lý thuyết:</a:t>
            </a:r>
            <a:r>
              <a:rPr sz="1150" b="0">
                <a:solidFill>
                  <a:srgbClr val="0F172A"/>
                </a:solidFill>
                <a:latin typeface="Segoe UI"/>
              </a:rPr>
              <a:t> 261 ngày x 288 bước/ngày = 75.168 mốc thời gian.</a:t>
            </a:r>
          </a:p>
          <a:p>
            <a:pPr>
              <a:spcAft>
                <a:spcPts val="1200"/>
              </a:spcAft>
            </a:pPr>
            <a:r>
              <a:rPr sz="1150" b="1">
                <a:solidFill>
                  <a:srgbClr val="0F1E3C"/>
                </a:solidFill>
                <a:latin typeface="Segoe UI"/>
              </a:rPr>
              <a:t>Lưới thời gian thực tế:</a:t>
            </a:r>
            <a:r>
              <a:rPr sz="1150" b="0">
                <a:solidFill>
                  <a:srgbClr val="0F172A"/>
                </a:solidFill>
                <a:latin typeface="Segoe UI"/>
              </a:rPr>
              <a:t> 75.168 dòng quan sát -&gt; Missing timestamps = 0, Duplicate timestamps = 0.</a:t>
            </a:r>
          </a:p>
          <a:p>
            <a:pPr>
              <a:spcAft>
                <a:spcPts val="1200"/>
              </a:spcAft>
            </a:pPr>
            <a:r>
              <a:rPr sz="1150" b="1">
                <a:solidFill>
                  <a:srgbClr val="0F1E3C"/>
                </a:solidFill>
                <a:latin typeface="Segoe UI"/>
              </a:rPr>
              <a:t>Chi tiết theo tháng:</a:t>
            </a:r>
            <a:r>
              <a:rPr sz="1150" b="0">
                <a:solidFill>
                  <a:srgbClr val="0F172A"/>
                </a:solidFill>
                <a:latin typeface="Segoe UI"/>
              </a:rPr>
              <a:t> Tháng 1, 3, 5, 7, 8 (8.928 dòng/tháng); Tháng 4, 6 (8.640 dòng/tháng); Tháng 2 (8.064 dòng).</a:t>
            </a:r>
          </a:p>
          <a:p>
            <a:pPr>
              <a:spcAft>
                <a:spcPts val="1200"/>
              </a:spcAft>
            </a:pPr>
            <a:r>
              <a:rPr sz="1150" b="1">
                <a:solidFill>
                  <a:srgbClr val="0F1E3C"/>
                </a:solidFill>
                <a:latin typeface="Segoe UI"/>
              </a:rPr>
              <a:t>Kết luận kiểm toán:</a:t>
            </a:r>
            <a:r>
              <a:rPr sz="1150" b="0">
                <a:solidFill>
                  <a:srgbClr val="0F172A"/>
                </a:solidFill>
                <a:latin typeface="Segoe UI"/>
              </a:rPr>
              <a:t> Lưới thời gian nguyên vẹn 100%, thuận lợi tuyệt đối cho mô hình học máy chuỗi thời gian.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10. Data Quality: Kiểm Toán Chất Lượng &amp; Bất Thường Vật Lý</a:t>
            </a:r>
          </a:p>
          <a:p>
            <a:pPr>
              <a:defRPr sz="1000" i="1">
                <a:solidFill>
                  <a:srgbClr val="1B4F9A"/>
                </a:solidFill>
                <a:latin typeface="Segoe UI"/>
              </a:defRPr>
            </a:pPr>
            <a:r>
              <a:t>Nhận diện các lỗi cảm biến vật lý trước khi bước vào tiền xử lý</a:t>
            </a:r>
          </a:p>
        </p:txBody>
      </p:sp>
      <p:sp>
        <p:nvSpPr>
          <p:cNvPr id="6" name="TextBox 5"/>
          <p:cNvSpPr txBox="1"/>
          <p:nvPr/>
        </p:nvSpPr>
        <p:spPr>
          <a:xfrm>
            <a:off x="548640" y="1828800"/>
            <a:ext cx="10972800" cy="4389120"/>
          </a:xfrm>
          <a:prstGeom prst="rect">
            <a:avLst/>
          </a:prstGeom>
          <a:noFill/>
        </p:spPr>
        <p:txBody>
          <a:bodyPr wrap="square" lIns="0" tIns="0">
            <a:spAutoFit/>
          </a:bodyPr>
          <a:lstStyle/>
          <a:p>
            <a:pPr>
              <a:spcAft>
                <a:spcPts val="1200"/>
              </a:spcAft>
            </a:pPr>
            <a:r>
              <a:rPr sz="1150" b="1">
                <a:solidFill>
                  <a:srgbClr val="0F1E3C"/>
                </a:solidFill>
                <a:latin typeface="Segoe UI"/>
              </a:rPr>
              <a:t>Lỗi nhiệt độ âm &amp; RH = 0%:</a:t>
            </a:r>
            <a:r>
              <a:rPr sz="1150" b="0">
                <a:solidFill>
                  <a:srgbClr val="0F172A"/>
                </a:solidFill>
                <a:latin typeface="Segoe UI"/>
              </a:rPr>
              <a:t> Ghi nhận Min temperature = -0.50 °C và RH = 0% -&gt; Lỗi cảm biến DHT mất tín hiệu (TP.HCM không có băng tuyết).</a:t>
            </a:r>
          </a:p>
          <a:p>
            <a:pPr>
              <a:spcAft>
                <a:spcPts val="1200"/>
              </a:spcAft>
            </a:pPr>
            <a:r>
              <a:rPr sz="1150" b="1">
                <a:solidFill>
                  <a:srgbClr val="0F1E3C"/>
                </a:solidFill>
                <a:latin typeface="Segoe UI"/>
              </a:rPr>
              <a:t>Lỗi quang trở giai đoạn đầu:</a:t>
            </a:r>
            <a:r>
              <a:rPr sz="1150" b="0">
                <a:solidFill>
                  <a:srgbClr val="0F172A"/>
                </a:solidFill>
                <a:latin typeface="Segoe UI"/>
              </a:rPr>
              <a:t> light có 1.830 ô trống (2.43%) và tương quan yếu do bị tán lá che khuất, đã được nhóm hiệu chuẩn và đưa ra vị trí đo tối ưu.</a:t>
            </a:r>
          </a:p>
          <a:p>
            <a:pPr>
              <a:spcAft>
                <a:spcPts val="1200"/>
              </a:spcAft>
            </a:pPr>
            <a:r>
              <a:rPr sz="1150" b="1">
                <a:solidFill>
                  <a:srgbClr val="0F1E3C"/>
                </a:solidFill>
                <a:latin typeface="Segoe UI"/>
              </a:rPr>
              <a:t>Đặc tính EC/NPK = 0:</a:t>
            </a:r>
            <a:r>
              <a:rPr sz="1150" b="0">
                <a:solidFill>
                  <a:srgbClr val="0F172A"/>
                </a:solidFill>
                <a:latin typeface="Segoe UI"/>
              </a:rPr>
              <a:t> Xảy ra chủ yếu khi độ ẩm đất &lt; 12% (đất khô làm điện cực mất tiếp xúc, không phải lỗi phần cứng).</a:t>
            </a:r>
          </a:p>
          <a:p>
            <a:pPr>
              <a:spcAft>
                <a:spcPts val="1200"/>
              </a:spcAft>
            </a:pPr>
            <a:r>
              <a:rPr sz="1150" b="1">
                <a:solidFill>
                  <a:srgbClr val="0F1E3C"/>
                </a:solidFill>
                <a:latin typeface="Segoe UI"/>
              </a:rPr>
              <a:t>Quy tắc loại bỏ:</a:t>
            </a:r>
            <a:r>
              <a:rPr sz="1150" b="0">
                <a:solidFill>
                  <a:srgbClr val="0F172A"/>
                </a:solidFill>
                <a:latin typeface="Segoe UI"/>
              </a:rPr>
              <a:t> Thiết lập luật miền vật lý chặn dưới và chặn trên cho từng cảm biến.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11. Data Insights 1: Phân Tích Xu Hướng 261 Ngày</a:t>
            </a:r>
          </a:p>
          <a:p>
            <a:pPr>
              <a:defRPr sz="1000" i="1">
                <a:solidFill>
                  <a:srgbClr val="1B4F9A"/>
                </a:solidFill>
                <a:latin typeface="Segoe UI"/>
              </a:defRPr>
            </a:pPr>
            <a:r>
              <a:t>Dạng răng cưa dinh dưỡng EC &amp; Nhận diện sự cố bơm hỏng</a:t>
            </a:r>
          </a:p>
        </p:txBody>
      </p:sp>
      <p:pic>
        <p:nvPicPr>
          <p:cNvPr id="6" name="Picture 5" descr="slide_11_eda_daily_trends.png"/>
          <p:cNvPicPr>
            <a:picLocks noChangeAspect="1"/>
          </p:cNvPicPr>
          <p:nvPr/>
        </p:nvPicPr>
        <p:blipFill>
          <a:blip r:embed="rId3"/>
          <a:stretch>
            <a:fillRect/>
          </a:stretch>
        </p:blipFill>
        <p:spPr>
          <a:xfrm>
            <a:off x="4114800" y="1828800"/>
            <a:ext cx="7498079" cy="4299417"/>
          </a:xfrm>
          <a:prstGeom prst="rect">
            <a:avLst/>
          </a:prstGeom>
        </p:spPr>
      </p:pic>
      <p:sp>
        <p:nvSpPr>
          <p:cNvPr id="7" name="TextBox 6"/>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Độ ẩm đất (45-55%):</a:t>
            </a:r>
            <a:r>
              <a:rPr sz="919" b="0">
                <a:solidFill>
                  <a:srgbClr val="0F172A"/>
                </a:solidFill>
                <a:latin typeface="Segoe UI"/>
              </a:rPr>
              <a:t> Duy trì ổn định nhờ tưới tự động; bắt trọn 2 sự cố bơm hỏng (tụt về 24% ngày 22-25/03 &amp; 09-11/08).</a:t>
            </a:r>
          </a:p>
          <a:p>
            <a:pPr>
              <a:spcAft>
                <a:spcPts val="800"/>
              </a:spcAft>
            </a:pPr>
            <a:r>
              <a:rPr sz="919" b="1">
                <a:solidFill>
                  <a:srgbClr val="0F1E3C"/>
                </a:solidFill>
                <a:latin typeface="Segoe UI"/>
              </a:rPr>
              <a:t>Dinh dưỡng EC &amp; NPK:</a:t>
            </a:r>
            <a:r>
              <a:rPr sz="919" b="0">
                <a:solidFill>
                  <a:srgbClr val="0F172A"/>
                </a:solidFill>
                <a:latin typeface="Segoe UI"/>
              </a:rPr>
              <a:t> Dạng răng cưa rõ rệt — tăng vọt khi châm phân qua nước tưới, giảm dần do cây hấp thu &amp; rửa trôi.</a:t>
            </a:r>
          </a:p>
          <a:p>
            <a:pPr>
              <a:spcAft>
                <a:spcPts val="800"/>
              </a:spcAft>
            </a:pPr>
            <a:r>
              <a:rPr sz="919" b="1">
                <a:solidFill>
                  <a:srgbClr val="0F1E3C"/>
                </a:solidFill>
                <a:latin typeface="Segoe UI"/>
              </a:rPr>
              <a:t>Mùa mưa (Tháng 5 - 8):</a:t>
            </a:r>
            <a:r>
              <a:rPr sz="919" b="0">
                <a:solidFill>
                  <a:srgbClr val="0F172A"/>
                </a:solidFill>
                <a:latin typeface="Segoe UI"/>
              </a:rPr>
              <a:t> Bức xạ giảm, lượng mưa tích lũy cao làm tăng tốc độ rửa trôi ion dinh dưỡng.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12. Data Insights 2: Đặc Trưng Chu Kỳ Trong Ngày (Diurnal)</a:t>
            </a:r>
          </a:p>
          <a:p>
            <a:pPr>
              <a:defRPr sz="1000" i="1">
                <a:solidFill>
                  <a:srgbClr val="1B4F9A"/>
                </a:solidFill>
                <a:latin typeface="Segoe UI"/>
              </a:defRPr>
            </a:pPr>
            <a:r>
              <a:t>Cơ sở lựa chọn đặc trưng sóng tuần hoàn sin/cos(giờ)</a:t>
            </a:r>
          </a:p>
        </p:txBody>
      </p:sp>
      <p:pic>
        <p:nvPicPr>
          <p:cNvPr id="6" name="Picture 5" descr="slide_12_eda_hourly_cycles.png"/>
          <p:cNvPicPr>
            <a:picLocks noChangeAspect="1"/>
          </p:cNvPicPr>
          <p:nvPr/>
        </p:nvPicPr>
        <p:blipFill>
          <a:blip r:embed="rId3"/>
          <a:stretch>
            <a:fillRect/>
          </a:stretch>
        </p:blipFill>
        <p:spPr>
          <a:xfrm>
            <a:off x="4114800" y="1828800"/>
            <a:ext cx="7498079" cy="2933186"/>
          </a:xfrm>
          <a:prstGeom prst="rect">
            <a:avLst/>
          </a:prstGeom>
        </p:spPr>
      </p:pic>
      <p:sp>
        <p:nvSpPr>
          <p:cNvPr id="7" name="TextBox 6"/>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Nhiệt độ &amp; Bức xạ:</a:t>
            </a:r>
            <a:r>
              <a:rPr sz="919" b="0">
                <a:solidFill>
                  <a:srgbClr val="0F172A"/>
                </a:solidFill>
                <a:latin typeface="Segoe UI"/>
              </a:rPr>
              <a:t> Chu kỳ ngày/đêm rất rõ nét, đỉnh nhiệt 13h-14h; nhiệt độ đất có quán tính trễ hơn khí 1.5 - 2 giờ.</a:t>
            </a:r>
          </a:p>
          <a:p>
            <a:pPr>
              <a:spcAft>
                <a:spcPts val="800"/>
              </a:spcAft>
            </a:pPr>
            <a:r>
              <a:rPr sz="919" b="1">
                <a:solidFill>
                  <a:srgbClr val="0F1E3C"/>
                </a:solidFill>
                <a:latin typeface="Segoe UI"/>
              </a:rPr>
              <a:t>Độ ẩm đất &amp; EC:</a:t>
            </a:r>
            <a:r>
              <a:rPr sz="919" b="0">
                <a:solidFill>
                  <a:srgbClr val="0F172A"/>
                </a:solidFill>
                <a:latin typeface="Segoe UI"/>
              </a:rPr>
              <a:t> Gần như phẳng theo giờ, biến động chủ yếu theo sự kiện tưới và bón phân.</a:t>
            </a:r>
          </a:p>
          <a:p>
            <a:pPr>
              <a:spcAft>
                <a:spcPts val="800"/>
              </a:spcAft>
            </a:pPr>
            <a:r>
              <a:rPr sz="919" b="1">
                <a:solidFill>
                  <a:srgbClr val="0F1E3C"/>
                </a:solidFill>
                <a:latin typeface="Segoe UI"/>
              </a:rPr>
              <a:t>Quyết định Feature Engineering:</a:t>
            </a:r>
            <a:r>
              <a:rPr sz="919" b="0">
                <a:solidFill>
                  <a:srgbClr val="0F172A"/>
                </a:solidFill>
                <a:latin typeface="Segoe UI"/>
              </a:rPr>
              <a:t> Bổ sung biến chu kỳ sin(giờ) và cos(giờ) để mô hình nắm bắt nhịp sinh học ngày/đêm.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13. Data Insights 3: Ma Trận Tương Quan Đa Biến Pearson</a:t>
            </a:r>
          </a:p>
          <a:p>
            <a:pPr>
              <a:defRPr sz="1000" i="1">
                <a:solidFill>
                  <a:srgbClr val="1B4F9A"/>
                </a:solidFill>
                <a:latin typeface="Segoe UI"/>
              </a:defRPr>
            </a:pPr>
            <a:r>
              <a:t>Tương quan 10 cảm biến và 4 biến thời tiết ngoại sinh</a:t>
            </a:r>
          </a:p>
        </p:txBody>
      </p:sp>
      <p:pic>
        <p:nvPicPr>
          <p:cNvPr id="6" name="Picture 5" descr="slide_13_eda_correlation_matrix.png"/>
          <p:cNvPicPr>
            <a:picLocks noChangeAspect="1"/>
          </p:cNvPicPr>
          <p:nvPr/>
        </p:nvPicPr>
        <p:blipFill>
          <a:blip r:embed="rId3"/>
          <a:stretch>
            <a:fillRect/>
          </a:stretch>
        </p:blipFill>
        <p:spPr>
          <a:xfrm>
            <a:off x="4114800" y="1828800"/>
            <a:ext cx="7498079" cy="6646672"/>
          </a:xfrm>
          <a:prstGeom prst="rect">
            <a:avLst/>
          </a:prstGeom>
        </p:spPr>
      </p:pic>
      <p:sp>
        <p:nvSpPr>
          <p:cNvPr id="7" name="TextBox 6"/>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Khối dinh dưỡng trùng lặp:</a:t>
            </a:r>
            <a:r>
              <a:rPr sz="919" b="0">
                <a:solidFill>
                  <a:srgbClr val="0F172A"/>
                </a:solidFill>
                <a:latin typeface="Segoe UI"/>
              </a:rPr>
              <a:t> r(EC, K)=0.985, r(EC, P)=0.982, r(EC, N)=0.978 -&gt; Cảm biến 7-in-1 suy diễn từ EC.</a:t>
            </a:r>
          </a:p>
          <a:p>
            <a:pPr>
              <a:spcAft>
                <a:spcPts val="800"/>
              </a:spcAft>
            </a:pPr>
            <a:r>
              <a:rPr sz="919" b="1">
                <a:solidFill>
                  <a:srgbClr val="0F1E3C"/>
                </a:solidFill>
                <a:latin typeface="Segoe UI"/>
              </a:rPr>
              <a:t>Độ ẩm và pH tương quan âm mạnh (r ≈ -0.65):</a:t>
            </a:r>
            <a:r>
              <a:rPr sz="919" b="0">
                <a:solidFill>
                  <a:srgbClr val="0F172A"/>
                </a:solidFill>
                <a:latin typeface="Segoe UI"/>
              </a:rPr>
              <a:t> Do tính dẫn điện của dung dịch đất thay đổi khi đất ẩm bão hòa.</a:t>
            </a:r>
          </a:p>
          <a:p>
            <a:pPr>
              <a:spcAft>
                <a:spcPts val="800"/>
              </a:spcAft>
            </a:pPr>
            <a:r>
              <a:rPr sz="919" b="1">
                <a:solidFill>
                  <a:srgbClr val="0F1E3C"/>
                </a:solidFill>
                <a:latin typeface="Segoe UI"/>
              </a:rPr>
              <a:t>Ánh sáng giai đoạn đầu:</a:t>
            </a:r>
            <a:r>
              <a:rPr sz="919" b="0">
                <a:solidFill>
                  <a:srgbClr val="0F172A"/>
                </a:solidFill>
                <a:latin typeface="Segoe UI"/>
              </a:rPr>
              <a:t> Tương quan yếu (r=0.02) do quang trở ban đầu bị che khuất, đã được nhóm hiệu chuẩn và đưa ra vị trí đo tối ưu.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14. Data Insights 4: Bằng Chứng Thực Nghiệm Về NPK &amp; PCA</a:t>
            </a:r>
          </a:p>
          <a:p>
            <a:pPr>
              <a:defRPr sz="1000" i="1">
                <a:solidFill>
                  <a:srgbClr val="1B4F9A"/>
                </a:solidFill>
                <a:latin typeface="Segoe UI"/>
              </a:defRPr>
            </a:pPr>
            <a:r>
              <a:t>Phân tích thành phần chính (PCA) giải thích 98.0% phương sai</a:t>
            </a:r>
          </a:p>
        </p:txBody>
      </p:sp>
      <p:pic>
        <p:nvPicPr>
          <p:cNvPr id="6" name="Picture 5" descr="slide_14_eda_npk_ec_scatter.png"/>
          <p:cNvPicPr>
            <a:picLocks noChangeAspect="1"/>
          </p:cNvPicPr>
          <p:nvPr/>
        </p:nvPicPr>
        <p:blipFill>
          <a:blip r:embed="rId3"/>
          <a:stretch>
            <a:fillRect/>
          </a:stretch>
        </p:blipFill>
        <p:spPr>
          <a:xfrm>
            <a:off x="4114800" y="1828800"/>
            <a:ext cx="7498079" cy="3160636"/>
          </a:xfrm>
          <a:prstGeom prst="rect">
            <a:avLst/>
          </a:prstGeom>
        </p:spPr>
      </p:pic>
      <p:sp>
        <p:nvSpPr>
          <p:cNvPr id="7" name="TextBox 6"/>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Biểu đồ phân tán (Scatter):</a:t>
            </a:r>
            <a:r>
              <a:rPr sz="919" b="0">
                <a:solidFill>
                  <a:srgbClr val="0F172A"/>
                </a:solidFill>
                <a:latin typeface="Segoe UI"/>
              </a:rPr>
              <a:t> N, P, K bám sát tuyệt đối vào đường hồi quy tuyến tính của EC.</a:t>
            </a:r>
          </a:p>
          <a:p>
            <a:pPr>
              <a:spcAft>
                <a:spcPts val="800"/>
              </a:spcAft>
            </a:pPr>
            <a:r>
              <a:rPr sz="919" b="1">
                <a:solidFill>
                  <a:srgbClr val="0F1E3C"/>
                </a:solidFill>
                <a:latin typeface="Segoe UI"/>
              </a:rPr>
              <a:t>Phân tích PCA:</a:t>
            </a:r>
            <a:r>
              <a:rPr sz="919" b="0">
                <a:solidFill>
                  <a:srgbClr val="0F172A"/>
                </a:solidFill>
                <a:latin typeface="Segoe UI"/>
              </a:rPr>
              <a:t> Thành phần chính đầu tiên (PC1) giải thích đến 98.0% toàn bộ phương sai của cả 4 biến {EC, N, P, K}.</a:t>
            </a:r>
          </a:p>
          <a:p>
            <a:pPr>
              <a:spcAft>
                <a:spcPts val="800"/>
              </a:spcAft>
            </a:pPr>
            <a:r>
              <a:rPr sz="919" b="1">
                <a:solidFill>
                  <a:srgbClr val="0F1E3C"/>
                </a:solidFill>
                <a:latin typeface="Segoe UI"/>
              </a:rPr>
              <a:t>Quyết định giảm chiều:</a:t>
            </a:r>
            <a:r>
              <a:rPr sz="919" b="0">
                <a:solidFill>
                  <a:srgbClr val="0F172A"/>
                </a:solidFill>
                <a:latin typeface="Segoe UI"/>
              </a:rPr>
              <a:t> Gom nhóm dinh dưỡng về EC hoặc PC1 giúp giảm triệt để đa cộng tuyến mà không mất thông tin.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15. Data Insights 5: Chiến Lược Chia Tập Chuỗi Thời Gian</a:t>
            </a:r>
          </a:p>
          <a:p>
            <a:pPr>
              <a:defRPr sz="1000" i="1">
                <a:solidFill>
                  <a:srgbClr val="1B4F9A"/>
                </a:solidFill>
                <a:latin typeface="Segoe UI"/>
              </a:defRPr>
            </a:pPr>
            <a:r>
              <a:t>Phân chia chuẩn nhân quả theo thời gian — Tránh rò rỉ tương lai</a:t>
            </a:r>
          </a:p>
        </p:txBody>
      </p:sp>
      <p:pic>
        <p:nvPicPr>
          <p:cNvPr id="6" name="Picture 5" descr="slide_15_eda_monthly_events.png"/>
          <p:cNvPicPr>
            <a:picLocks noChangeAspect="1"/>
          </p:cNvPicPr>
          <p:nvPr/>
        </p:nvPicPr>
        <p:blipFill>
          <a:blip r:embed="rId3"/>
          <a:stretch>
            <a:fillRect/>
          </a:stretch>
        </p:blipFill>
        <p:spPr>
          <a:xfrm>
            <a:off x="4114800" y="1828800"/>
            <a:ext cx="7498079" cy="4217669"/>
          </a:xfrm>
          <a:prstGeom prst="rect">
            <a:avLst/>
          </a:prstGeom>
        </p:spPr>
      </p:pic>
      <p:sp>
        <p:nvSpPr>
          <p:cNvPr id="7" name="TextBox 6"/>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Nguyên tắc bất biến:</a:t>
            </a:r>
            <a:r>
              <a:rPr sz="919" b="0">
                <a:solidFill>
                  <a:srgbClr val="0F172A"/>
                </a:solidFill>
                <a:latin typeface="Segoe UI"/>
              </a:rPr>
              <a:t> Tuyệt đối không dùng K-fold xáo trộn ngẫu nhiên (Shuffle) gây rò rỉ dữ liệu tương lai.</a:t>
            </a:r>
          </a:p>
          <a:p>
            <a:pPr>
              <a:spcAft>
                <a:spcPts val="800"/>
              </a:spcAft>
            </a:pPr>
            <a:r>
              <a:rPr sz="919" b="1">
                <a:solidFill>
                  <a:srgbClr val="0F1E3C"/>
                </a:solidFill>
                <a:latin typeface="Segoe UI"/>
              </a:rPr>
              <a:t>Tập Train (14/12/2025 - 30/06/2026):</a:t>
            </a:r>
            <a:r>
              <a:rPr sz="919" b="0">
                <a:solidFill>
                  <a:srgbClr val="0F172A"/>
                </a:solidFill>
                <a:latin typeface="Segoe UI"/>
              </a:rPr>
              <a:t> 57.312 bản ghi (~6.5 tháng, chiếm 76.2% tổng dữ liệu).</a:t>
            </a:r>
          </a:p>
          <a:p>
            <a:pPr>
              <a:spcAft>
                <a:spcPts val="800"/>
              </a:spcAft>
            </a:pPr>
            <a:r>
              <a:rPr sz="919" b="1">
                <a:solidFill>
                  <a:srgbClr val="0F1E3C"/>
                </a:solidFill>
                <a:latin typeface="Segoe UI"/>
              </a:rPr>
              <a:t>Tập Validation (Tháng 07/2026):</a:t>
            </a:r>
            <a:r>
              <a:rPr sz="919" b="0">
                <a:solidFill>
                  <a:srgbClr val="0F172A"/>
                </a:solidFill>
                <a:latin typeface="Segoe UI"/>
              </a:rPr>
              <a:t> 8.928 bản ghi (chiếm 11.9%, dùng tinh chỉnh siêu tham số mô hình).</a:t>
            </a:r>
          </a:p>
          <a:p>
            <a:pPr>
              <a:spcAft>
                <a:spcPts val="800"/>
              </a:spcAft>
            </a:pPr>
            <a:r>
              <a:rPr sz="919" b="1">
                <a:solidFill>
                  <a:srgbClr val="0F1E3C"/>
                </a:solidFill>
                <a:latin typeface="Segoe UI"/>
              </a:rPr>
              <a:t>Tập Test độc lập (Tháng 08/2026):</a:t>
            </a:r>
            <a:r>
              <a:rPr sz="919" b="0">
                <a:solidFill>
                  <a:srgbClr val="0F172A"/>
                </a:solidFill>
                <a:latin typeface="Segoe UI"/>
              </a:rPr>
              <a:t> 8.928 bản ghi (chiếm 11.9%, đánh giá khách quan mùa mưa thực tế).</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16. PHẦN 03 — TIỀN XỬ LÝ: BENCHMARK ĐIỀN KHUYẾT</a:t>
            </a:r>
          </a:p>
          <a:p>
            <a:pPr>
              <a:defRPr sz="1000" i="1">
                <a:solidFill>
                  <a:srgbClr val="1B4F9A"/>
                </a:solidFill>
                <a:latin typeface="Segoe UI"/>
              </a:defRPr>
            </a:pPr>
            <a:r>
              <a:t>Thực nghiệm ẩn ô ngẫu nhiên và đo sai số phục hồi NRMSE</a:t>
            </a:r>
          </a:p>
        </p:txBody>
      </p:sp>
      <p:pic>
        <p:nvPicPr>
          <p:cNvPr id="6" name="Picture 5" descr="slide_16_preprocessing_imputation.png"/>
          <p:cNvPicPr>
            <a:picLocks noChangeAspect="1"/>
          </p:cNvPicPr>
          <p:nvPr/>
        </p:nvPicPr>
        <p:blipFill>
          <a:blip r:embed="rId3"/>
          <a:stretch>
            <a:fillRect/>
          </a:stretch>
        </p:blipFill>
        <p:spPr>
          <a:xfrm>
            <a:off x="4114800" y="1828800"/>
            <a:ext cx="7498079" cy="4217669"/>
          </a:xfrm>
          <a:prstGeom prst="rect">
            <a:avLst/>
          </a:prstGeom>
        </p:spPr>
      </p:pic>
      <p:sp>
        <p:nvSpPr>
          <p:cNvPr id="7" name="TextBox 6"/>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Đoạn ngắn &lt;= 3 giờ:</a:t>
            </a:r>
            <a:r>
              <a:rPr sz="919" b="0">
                <a:solidFill>
                  <a:srgbClr val="0F172A"/>
                </a:solidFill>
                <a:latin typeface="Segoe UI"/>
              </a:rPr>
              <a:t> Nội suy Tuyến tính (Linear) thắng tuyệt đối (NRMSE ≈ 0.10 - 0.17) do tự tương quan 5 phút rất mạnh.</a:t>
            </a:r>
          </a:p>
          <a:p>
            <a:pPr>
              <a:spcAft>
                <a:spcPts val="800"/>
              </a:spcAft>
            </a:pPr>
            <a:r>
              <a:rPr sz="919" b="1">
                <a:solidFill>
                  <a:srgbClr val="0F1E3C"/>
                </a:solidFill>
                <a:latin typeface="Segoe UI"/>
              </a:rPr>
              <a:t>Đoạn dài &gt; 3 giờ trên 1 cảm biến:</a:t>
            </a:r>
            <a:r>
              <a:rPr sz="919" b="0">
                <a:solidFill>
                  <a:srgbClr val="0F172A"/>
                </a:solidFill>
                <a:latin typeface="Segoe UI"/>
              </a:rPr>
              <a:t> MICE đa biến vượt trội (NRMSE = 0.3606 so với 0.4403 của Linear) nhờ học tương quan chéo.</a:t>
            </a:r>
          </a:p>
          <a:p>
            <a:pPr>
              <a:spcAft>
                <a:spcPts val="800"/>
              </a:spcAft>
            </a:pPr>
            <a:r>
              <a:rPr sz="919" b="1">
                <a:solidFill>
                  <a:srgbClr val="0F1E3C"/>
                </a:solidFill>
                <a:latin typeface="Segoe UI"/>
              </a:rPr>
              <a:t>Mất kết nối toàn bộ trạm (10 biến cùng mất):</a:t>
            </a:r>
            <a:r>
              <a:rPr sz="919" b="0">
                <a:solidFill>
                  <a:srgbClr val="0F172A"/>
                </a:solidFill>
                <a:latin typeface="Segoe UI"/>
              </a:rPr>
              <a:t> Tự động fallback về Tuyến tính vì MICE không còn biến quan sát để mượn thông tin.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17. Bộ Lọc Lỗi Kết Hợp &amp; Bảo Vệ Đợt Bón Phân</a:t>
            </a:r>
          </a:p>
          <a:p>
            <a:pPr>
              <a:defRPr sz="1000" i="1">
                <a:solidFill>
                  <a:srgbClr val="1B4F9A"/>
                </a:solidFill>
                <a:latin typeface="Segoe UI"/>
              </a:defRPr>
            </a:pPr>
            <a:r>
              <a:t>Phân biệt giữa sự kiện nông học thật và xung nhiễu cảm biến</a:t>
            </a:r>
          </a:p>
        </p:txBody>
      </p:sp>
      <p:pic>
        <p:nvPicPr>
          <p:cNvPr id="6" name="Picture 5" descr="slide_17_outlier_event_protection.png"/>
          <p:cNvPicPr>
            <a:picLocks noChangeAspect="1"/>
          </p:cNvPicPr>
          <p:nvPr/>
        </p:nvPicPr>
        <p:blipFill>
          <a:blip r:embed="rId3"/>
          <a:stretch>
            <a:fillRect/>
          </a:stretch>
        </p:blipFill>
        <p:spPr>
          <a:xfrm>
            <a:off x="4114800" y="1828800"/>
            <a:ext cx="7498079" cy="4217669"/>
          </a:xfrm>
          <a:prstGeom prst="rect">
            <a:avLst/>
          </a:prstGeom>
        </p:spPr>
      </p:pic>
      <p:sp>
        <p:nvSpPr>
          <p:cNvPr id="7" name="TextBox 6"/>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Bộ lọc 3 lớp:</a:t>
            </a:r>
            <a:r>
              <a:rPr sz="919" b="0">
                <a:solidFill>
                  <a:srgbClr val="0F172A"/>
                </a:solidFill>
                <a:latin typeface="Segoe UI"/>
              </a:rPr>
              <a:t> Luật miền vật lý + Lọc Hampel thích ứng (MAD 24h) + Phát hiện cảm biến kẹt (Stuck &gt;= 12 bước).</a:t>
            </a:r>
          </a:p>
          <a:p>
            <a:pPr>
              <a:spcAft>
                <a:spcPts val="800"/>
              </a:spcAft>
            </a:pPr>
            <a:r>
              <a:rPr sz="919" b="1">
                <a:solidFill>
                  <a:srgbClr val="0F1E3C"/>
                </a:solidFill>
                <a:latin typeface="Segoe UI"/>
              </a:rPr>
              <a:t>Quy tắc đồng thuận nông học:</a:t>
            </a:r>
            <a:r>
              <a:rPr sz="919" b="0">
                <a:solidFill>
                  <a:srgbClr val="0F172A"/>
                </a:solidFill>
                <a:latin typeface="Segoe UI"/>
              </a:rPr>
              <a:t> Khi &gt;= 3/4 biến nhóm [EC, N, P, K] cùng tăng vọt -&gt; Xác nhận là BÓN PHÂN THẬT.</a:t>
            </a:r>
          </a:p>
          <a:p>
            <a:pPr>
              <a:spcAft>
                <a:spcPts val="800"/>
              </a:spcAft>
            </a:pPr>
            <a:r>
              <a:rPr sz="919" b="1">
                <a:solidFill>
                  <a:srgbClr val="0F1E3C"/>
                </a:solidFill>
                <a:latin typeface="Segoe UI"/>
              </a:rPr>
              <a:t>Hiệu quả thực nghiệm:</a:t>
            </a:r>
            <a:r>
              <a:rPr sz="919" b="0">
                <a:solidFill>
                  <a:srgbClr val="0F172A"/>
                </a:solidFill>
                <a:latin typeface="Segoe UI"/>
              </a:rPr>
              <a:t> Giữ lại 8 điểm của 4 đợt bón phân, giảm 5,1% cờ báo nhầm (156 → 148 dòng).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18. Kiến Trúc Pipeline Xử Lý Dữ Liệu 6 Giai Đoạn</a:t>
            </a:r>
          </a:p>
          <a:p>
            <a:pPr>
              <a:defRPr sz="1000" i="1">
                <a:solidFill>
                  <a:srgbClr val="1B4F9A"/>
                </a:solidFill>
                <a:latin typeface="Segoe UI"/>
              </a:defRPr>
            </a:pPr>
            <a:r>
              <a:t>Quy trình chuẩn hóa đầu-cuối từ dữ liệu thô đến mô hình AI</a:t>
            </a:r>
          </a:p>
        </p:txBody>
      </p:sp>
      <p:pic>
        <p:nvPicPr>
          <p:cNvPr id="6" name="Picture 5" descr="slide_18_pipeline_architecture.png"/>
          <p:cNvPicPr>
            <a:picLocks noChangeAspect="1"/>
          </p:cNvPicPr>
          <p:nvPr/>
        </p:nvPicPr>
        <p:blipFill>
          <a:blip r:embed="rId3"/>
          <a:stretch>
            <a:fillRect/>
          </a:stretch>
        </p:blipFill>
        <p:spPr>
          <a:xfrm>
            <a:off x="4114800" y="1828800"/>
            <a:ext cx="7498079" cy="2969835"/>
          </a:xfrm>
          <a:prstGeom prst="rect">
            <a:avLst/>
          </a:prstGeom>
        </p:spPr>
      </p:pic>
      <p:sp>
        <p:nvSpPr>
          <p:cNvPr id="7" name="TextBox 6"/>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Giai đoạn 1 - Đọc &amp; Lưới:</a:t>
            </a:r>
            <a:r>
              <a:rPr sz="919" b="0">
                <a:solidFill>
                  <a:srgbClr val="0F172A"/>
                </a:solidFill>
                <a:latin typeface="Segoe UI"/>
              </a:rPr>
              <a:t> Flatten Firebase JSON -&gt; Kiểm toán lưới 5 phút (75.168 mốc) -&gt; Ghép Open-Meteo.</a:t>
            </a:r>
          </a:p>
          <a:p>
            <a:pPr>
              <a:spcAft>
                <a:spcPts val="800"/>
              </a:spcAft>
            </a:pPr>
            <a:r>
              <a:rPr sz="919" b="1">
                <a:solidFill>
                  <a:srgbClr val="0F1E3C"/>
                </a:solidFill>
                <a:latin typeface="Segoe UI"/>
              </a:rPr>
              <a:t>Giai đoạn 2 - Bối cảnh vật lý:</a:t>
            </a:r>
            <a:r>
              <a:rPr sz="919" b="0">
                <a:solidFill>
                  <a:srgbClr val="0F172A"/>
                </a:solidFill>
                <a:latin typeface="Segoe UI"/>
              </a:rPr>
              <a:t> Lọc 814 dòng DHT chết về 0; giữ EC=0 khi đất khô &lt; 12%; hiệu chuẩn quang trở.</a:t>
            </a:r>
          </a:p>
          <a:p>
            <a:pPr>
              <a:spcAft>
                <a:spcPts val="800"/>
              </a:spcAft>
            </a:pPr>
            <a:r>
              <a:rPr sz="919" b="1">
                <a:solidFill>
                  <a:srgbClr val="0F1E3C"/>
                </a:solidFill>
                <a:latin typeface="Segoe UI"/>
              </a:rPr>
              <a:t>Giai đoạn 3 - Lọc lỗi kết hợp:</a:t>
            </a:r>
            <a:r>
              <a:rPr sz="919" b="0">
                <a:solidFill>
                  <a:srgbClr val="0F172A"/>
                </a:solidFill>
                <a:latin typeface="Segoe UI"/>
              </a:rPr>
              <a:t> Miền vật lý + Hampel MAD thích ứng 24h + Phát hiện kẹt tín hiệu (Stuck &gt;= 12).</a:t>
            </a:r>
          </a:p>
          <a:p>
            <a:pPr>
              <a:spcAft>
                <a:spcPts val="800"/>
              </a:spcAft>
            </a:pPr>
            <a:r>
              <a:rPr sz="919" b="1">
                <a:solidFill>
                  <a:srgbClr val="0F1E3C"/>
                </a:solidFill>
                <a:latin typeface="Segoe UI"/>
              </a:rPr>
              <a:t>Giai đoạn 4 - Bảo vệ bón phân:</a:t>
            </a:r>
            <a:r>
              <a:rPr sz="919" b="0">
                <a:solidFill>
                  <a:srgbClr val="0F172A"/>
                </a:solidFill>
                <a:latin typeface="Segoe UI"/>
              </a:rPr>
              <a:t> Cơ chế đồng thuận &gt;= 3/4 biến nhóm EC-NPK giữ nguyên đợt bón phân.</a:t>
            </a:r>
          </a:p>
          <a:p>
            <a:pPr>
              <a:spcAft>
                <a:spcPts val="800"/>
              </a:spcAft>
            </a:pPr>
            <a:r>
              <a:rPr sz="919" b="1">
                <a:solidFill>
                  <a:srgbClr val="0F1E3C"/>
                </a:solidFill>
                <a:latin typeface="Segoe UI"/>
              </a:rPr>
              <a:t>Giai đoạn 5 - Điền khuyết &amp; Làm mượt:</a:t>
            </a:r>
            <a:r>
              <a:rPr sz="919" b="0">
                <a:solidFill>
                  <a:srgbClr val="0F172A"/>
                </a:solidFill>
                <a:latin typeface="Segoe UI"/>
              </a:rPr>
              <a:t> Hybrid (Tuyến tính đoạn ngắn + MICE đoạn dài) + Làm mượt nhân quả EMA 0.3.</a:t>
            </a:r>
          </a:p>
          <a:p>
            <a:pPr>
              <a:spcAft>
                <a:spcPts val="800"/>
              </a:spcAft>
            </a:pPr>
            <a:r>
              <a:rPr sz="919" b="1">
                <a:solidFill>
                  <a:srgbClr val="0F1E3C"/>
                </a:solidFill>
                <a:latin typeface="Segoe UI"/>
              </a:rPr>
              <a:t>Giai đoạn 6 - Dự báo &amp; Web:</a:t>
            </a:r>
            <a:r>
              <a:rPr sz="919" b="0">
                <a:solidFill>
                  <a:srgbClr val="0F172A"/>
                </a:solidFill>
                <a:latin typeface="Segoe UI"/>
              </a:rPr>
              <a:t> Cửa sổ trượt W=12, mô hình Direct Knots 24h kèm dải P10-P90 đẩy lên Chili Farm OS.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19. Benchmark Mô Hình Máy Học &amp; Dự Báo Trực Tiếp 24h</a:t>
            </a:r>
          </a:p>
          <a:p>
            <a:pPr>
              <a:defRPr sz="1000" i="1">
                <a:solidFill>
                  <a:srgbClr val="1B4F9A"/>
                </a:solidFill>
                <a:latin typeface="Segoe UI"/>
              </a:defRPr>
            </a:pPr>
            <a:r>
              <a:t>XGBoost chiến thắng áp đảo với +38.9% Skill &amp; Dải bất định P10-P90</a:t>
            </a:r>
          </a:p>
        </p:txBody>
      </p:sp>
      <p:pic>
        <p:nvPicPr>
          <p:cNvPr id="6" name="Picture 5" descr="slide_19_model_benchmark.png"/>
          <p:cNvPicPr>
            <a:picLocks noChangeAspect="1"/>
          </p:cNvPicPr>
          <p:nvPr/>
        </p:nvPicPr>
        <p:blipFill>
          <a:blip r:embed="rId3"/>
          <a:stretch>
            <a:fillRect/>
          </a:stretch>
        </p:blipFill>
        <p:spPr>
          <a:xfrm>
            <a:off x="4114800" y="1828800"/>
            <a:ext cx="7498079" cy="4217669"/>
          </a:xfrm>
          <a:prstGeom prst="rect">
            <a:avLst/>
          </a:prstGeom>
        </p:spPr>
      </p:pic>
      <p:sp>
        <p:nvSpPr>
          <p:cNvPr id="7" name="TextBox 6"/>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Tầm h=1 (5 phút):</a:t>
            </a:r>
            <a:r>
              <a:rPr sz="919" b="0">
                <a:solidFill>
                  <a:srgbClr val="0F172A"/>
                </a:solidFill>
                <a:latin typeface="Segoe UI"/>
              </a:rPr>
              <a:t> XGBoost (NRMSE=0.1038) và RF (0.1048) cải thiện +14-15% so với Persistence (0.1223).</a:t>
            </a:r>
          </a:p>
          <a:p>
            <a:pPr>
              <a:spcAft>
                <a:spcPts val="800"/>
              </a:spcAft>
            </a:pPr>
            <a:r>
              <a:rPr sz="919" b="1">
                <a:solidFill>
                  <a:srgbClr val="0F1E3C"/>
                </a:solidFill>
                <a:latin typeface="Segoe UI"/>
              </a:rPr>
              <a:t>Tầm h=12 (1 giờ):</a:t>
            </a:r>
            <a:r>
              <a:rPr sz="919" b="0">
                <a:solidFill>
                  <a:srgbClr val="0F172A"/>
                </a:solidFill>
                <a:latin typeface="Segoe UI"/>
              </a:rPr>
              <a:t> XGBoost chiến thắng áp đảo (NRMSE=0.2069 so với 0.3387 của Persistence) -&gt; Cải thiện +38.9% Skill.</a:t>
            </a:r>
          </a:p>
          <a:p>
            <a:pPr>
              <a:spcAft>
                <a:spcPts val="800"/>
              </a:spcAft>
            </a:pPr>
            <a:r>
              <a:rPr sz="919" b="1">
                <a:solidFill>
                  <a:srgbClr val="0F1E3C"/>
                </a:solidFill>
                <a:latin typeface="Segoe UI"/>
              </a:rPr>
              <a:t>Đóng góp của Tiền xử lý:</a:t>
            </a:r>
            <a:r>
              <a:rPr sz="919" b="0">
                <a:solidFill>
                  <a:srgbClr val="0F172A"/>
                </a:solidFill>
                <a:latin typeface="Segoe UI"/>
              </a:rPr>
              <a:t> Pipeline làm sạch chuẩn khoa học giúp giảm 28.7% sai số dự báo.</a:t>
            </a:r>
          </a:p>
          <a:p>
            <a:pPr>
              <a:spcAft>
                <a:spcPts val="800"/>
              </a:spcAft>
            </a:pPr>
            <a:r>
              <a:rPr sz="919" b="1">
                <a:solidFill>
                  <a:srgbClr val="0F1E3C"/>
                </a:solidFill>
                <a:latin typeface="Segoe UI"/>
              </a:rPr>
              <a:t>Chiến lược Direct Knots 24h:</a:t>
            </a:r>
            <a:r>
              <a:rPr sz="919" b="0">
                <a:solidFill>
                  <a:srgbClr val="0F172A"/>
                </a:solidFill>
                <a:latin typeface="Segoe UI"/>
              </a:rPr>
              <a:t> Huấn luyện độc lập từng tầm xa kèm dải bất định P10 - P90, triệt tiêu lỗi tích luỹ đệ quy.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20. Demo Web Dashboard Điều Hành Vườn Ớt (Chili Farm OS)</a:t>
            </a:r>
          </a:p>
          <a:p>
            <a:pPr>
              <a:defRPr sz="1000" i="1">
                <a:solidFill>
                  <a:srgbClr val="1B4F9A"/>
                </a:solidFill>
                <a:latin typeface="Segoe UI"/>
              </a:defRPr>
            </a:pPr>
            <a:r>
              <a:t>Bản sao kỹ thuật số 3D, Màn hình LCD ảo và Biểu đồ dự báo 24h</a:t>
            </a:r>
          </a:p>
        </p:txBody>
      </p:sp>
      <p:pic>
        <p:nvPicPr>
          <p:cNvPr id="6" name="Picture 5" descr="slide_20_demo_web_chili_os.png"/>
          <p:cNvPicPr>
            <a:picLocks noChangeAspect="1"/>
          </p:cNvPicPr>
          <p:nvPr/>
        </p:nvPicPr>
        <p:blipFill>
          <a:blip r:embed="rId3"/>
          <a:stretch>
            <a:fillRect/>
          </a:stretch>
        </p:blipFill>
        <p:spPr>
          <a:xfrm>
            <a:off x="4114800" y="1828800"/>
            <a:ext cx="7498079" cy="4818079"/>
          </a:xfrm>
          <a:prstGeom prst="rect">
            <a:avLst/>
          </a:prstGeom>
        </p:spPr>
      </p:pic>
      <p:sp>
        <p:nvSpPr>
          <p:cNvPr id="7" name="TextBox 6"/>
          <p:cNvSpPr txBox="1"/>
          <p:nvPr/>
        </p:nvSpPr>
        <p:spPr>
          <a:xfrm>
            <a:off x="548640" y="1828800"/>
            <a:ext cx="3383280" cy="4389120"/>
          </a:xfrm>
          <a:prstGeom prst="rect">
            <a:avLst/>
          </a:prstGeom>
          <a:noFill/>
        </p:spPr>
        <p:txBody>
          <a:bodyPr wrap="square" lIns="0" tIns="0">
            <a:spAutoFit/>
          </a:bodyPr>
          <a:lstStyle/>
          <a:p>
            <a:pPr>
              <a:spcAft>
                <a:spcPts val="800"/>
              </a:spcAft>
            </a:pPr>
            <a:r>
              <a:rPr sz="919" b="1">
                <a:solidFill>
                  <a:srgbClr val="0F1E3C"/>
                </a:solidFill>
                <a:latin typeface="Segoe UI"/>
              </a:rPr>
              <a:t>Bản sao kỹ thuật số 3D (Digital Twin 360°):</a:t>
            </a:r>
            <a:r>
              <a:rPr sz="919" b="0">
                <a:solidFill>
                  <a:srgbClr val="0F172A"/>
                </a:solidFill>
                <a:latin typeface="Segoe UI"/>
              </a:rPr>
              <a:t> Trực quan hóa trạm quan trắc thực địa sinh động.</a:t>
            </a:r>
          </a:p>
          <a:p>
            <a:pPr>
              <a:spcAft>
                <a:spcPts val="800"/>
              </a:spcAft>
            </a:pPr>
            <a:r>
              <a:rPr sz="919" b="1">
                <a:solidFill>
                  <a:srgbClr val="0F1E3C"/>
                </a:solidFill>
                <a:latin typeface="Segoe UI"/>
              </a:rPr>
              <a:t>Màn hình LCD cảm ứng ảo:</a:t>
            </a:r>
            <a:r>
              <a:rPr sz="919" b="0">
                <a:solidFill>
                  <a:srgbClr val="0F172A"/>
                </a:solidFill>
                <a:latin typeface="Segoe UI"/>
              </a:rPr>
              <a:t> Đưa khuyến nghị canh tác tức thời ('Bón vôi nâng pH', 'Tạm dừng bón P-K').</a:t>
            </a:r>
          </a:p>
          <a:p>
            <a:pPr>
              <a:spcAft>
                <a:spcPts val="800"/>
              </a:spcAft>
            </a:pPr>
            <a:r>
              <a:rPr sz="919" b="1">
                <a:solidFill>
                  <a:srgbClr val="0F1E3C"/>
                </a:solidFill>
                <a:latin typeface="Segoe UI"/>
              </a:rPr>
              <a:t>Biểu đồ dự báo 24 giờ:</a:t>
            </a:r>
            <a:r>
              <a:rPr sz="919" b="0">
                <a:solidFill>
                  <a:srgbClr val="0F172A"/>
                </a:solidFill>
                <a:latin typeface="Segoe UI"/>
              </a:rPr>
              <a:t> Cảnh báo sớm thiếu ẩm đất trước khi rễ cây tổn thương, điều khiển bơm tưới thông minh.</a:t>
            </a:r>
          </a:p>
          <a:p>
            <a:pPr>
              <a:spcAft>
                <a:spcPts val="800"/>
              </a:spcAft>
            </a:pPr>
            <a:r>
              <a:rPr sz="919" b="1">
                <a:solidFill>
                  <a:srgbClr val="0F1E3C"/>
                </a:solidFill>
                <a:latin typeface="Segoe UI"/>
              </a:rPr>
              <a:t>Nhật ký sự kiện tự động:</a:t>
            </a:r>
            <a:r>
              <a:rPr sz="919" b="0">
                <a:solidFill>
                  <a:srgbClr val="0F172A"/>
                </a:solidFill>
                <a:latin typeface="Segoe UI"/>
              </a:rPr>
              <a:t> Lưu vết các đợt bón phân và sự cố thiết bị để phục vụ truy xuất nguồn gốc.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21. Tổng Kết Đề Tài &amp; Hướng Phát Triển Tương Lai</a:t>
            </a:r>
          </a:p>
          <a:p>
            <a:pPr>
              <a:defRPr sz="1000" i="1">
                <a:solidFill>
                  <a:srgbClr val="1B4F9A"/>
                </a:solidFill>
                <a:latin typeface="Segoe UI"/>
              </a:defRPr>
            </a:pPr>
            <a:r>
              <a:t>Đóng góp khoa học then chốt và lộ trình nâng cấp hệ thống</a:t>
            </a:r>
          </a:p>
        </p:txBody>
      </p:sp>
      <p:sp>
        <p:nvSpPr>
          <p:cNvPr id="6" name="TextBox 5"/>
          <p:cNvSpPr txBox="1"/>
          <p:nvPr/>
        </p:nvSpPr>
        <p:spPr>
          <a:xfrm>
            <a:off x="548640" y="1828800"/>
            <a:ext cx="10972800" cy="4389120"/>
          </a:xfrm>
          <a:prstGeom prst="rect">
            <a:avLst/>
          </a:prstGeom>
          <a:noFill/>
        </p:spPr>
        <p:txBody>
          <a:bodyPr wrap="square" lIns="0" tIns="0">
            <a:spAutoFit/>
          </a:bodyPr>
          <a:lstStyle/>
          <a:p>
            <a:pPr>
              <a:spcAft>
                <a:spcPts val="1200"/>
              </a:spcAft>
            </a:pPr>
            <a:r>
              <a:rPr sz="1150" b="1">
                <a:solidFill>
                  <a:srgbClr val="0F1E3C"/>
                </a:solidFill>
                <a:latin typeface="Segoe UI"/>
              </a:rPr>
              <a:t>Đóng góp 1 - Hệ sinh thái hoàn chỉnh:</a:t>
            </a:r>
            <a:r>
              <a:rPr sz="1150" b="0">
                <a:solidFill>
                  <a:srgbClr val="0F172A"/>
                </a:solidFill>
                <a:latin typeface="Segoe UI"/>
              </a:rPr>
              <a:t> Tự thiết kế trạm IoT phần cứng, pipeline tiền xử lý 6 giai đoạn và Web Dashboard.</a:t>
            </a:r>
          </a:p>
          <a:p>
            <a:pPr>
              <a:spcAft>
                <a:spcPts val="1200"/>
              </a:spcAft>
            </a:pPr>
            <a:r>
              <a:rPr sz="1150" b="1">
                <a:solidFill>
                  <a:srgbClr val="0F1E3C"/>
                </a:solidFill>
                <a:latin typeface="Segoe UI"/>
              </a:rPr>
              <a:t>Đóng góp 2 - Quy tắc đồng thuận nông học:</a:t>
            </a:r>
            <a:r>
              <a:rPr sz="1150" b="0">
                <a:solidFill>
                  <a:srgbClr val="0F172A"/>
                </a:solidFill>
                <a:latin typeface="Segoe UI"/>
              </a:rPr>
              <a:t> Giữ lại 8 điểm của 4 đợt bón phân, giảm 5,1% cờ báo nhầm (156 → 148 dòng).</a:t>
            </a:r>
          </a:p>
          <a:p>
            <a:pPr>
              <a:spcAft>
                <a:spcPts val="1200"/>
              </a:spcAft>
            </a:pPr>
            <a:r>
              <a:rPr sz="1150" b="1">
                <a:solidFill>
                  <a:srgbClr val="0F1E3C"/>
                </a:solidFill>
                <a:latin typeface="Segoe UI"/>
              </a:rPr>
              <a:t>Đóng góp 3 - Hiệu quả dự báo định lượng:</a:t>
            </a:r>
            <a:r>
              <a:rPr sz="1150" b="0">
                <a:solidFill>
                  <a:srgbClr val="0F172A"/>
                </a:solidFill>
                <a:latin typeface="Segoe UI"/>
              </a:rPr>
              <a:t> Mô hình XGBoost đạt cải thiện +38.9% Skill; tiền xử lý giảm 28.7% sai số.</a:t>
            </a:r>
          </a:p>
          <a:p>
            <a:pPr>
              <a:spcAft>
                <a:spcPts val="1200"/>
              </a:spcAft>
            </a:pPr>
            <a:r>
              <a:rPr sz="1150" b="1">
                <a:solidFill>
                  <a:srgbClr val="0F1E3C"/>
                </a:solidFill>
                <a:latin typeface="Segoe UI"/>
              </a:rPr>
              <a:t>Hướng phát triển tương lai:</a:t>
            </a:r>
            <a:r>
              <a:rPr sz="1150" b="0">
                <a:solidFill>
                  <a:srgbClr val="0F172A"/>
                </a:solidFill>
                <a:latin typeface="Segoe UI"/>
              </a:rPr>
              <a:t> Thử nghiệm kiến trúc Deep Learning PatchTST cho chuỗi siêu dài hạn và mở rộng mô hình đa trạm.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22. Hỏi &amp; Đáp (Q&amp;A) — Sẵn Sàng Phản Biện</a:t>
            </a:r>
          </a:p>
          <a:p>
            <a:pPr>
              <a:defRPr sz="1000" i="1">
                <a:solidFill>
                  <a:srgbClr val="1B4F9A"/>
                </a:solidFill>
                <a:latin typeface="Segoe UI"/>
              </a:defRPr>
            </a:pPr>
            <a:r>
              <a:t>Trân trọng cảm ơn ThS. Võ Phương Bình và Hội đồng phản biện UIT</a:t>
            </a:r>
          </a:p>
        </p:txBody>
      </p:sp>
      <p:sp>
        <p:nvSpPr>
          <p:cNvPr id="6" name="TextBox 5"/>
          <p:cNvSpPr txBox="1"/>
          <p:nvPr/>
        </p:nvSpPr>
        <p:spPr>
          <a:xfrm>
            <a:off x="548640" y="1828800"/>
            <a:ext cx="10972800" cy="4389120"/>
          </a:xfrm>
          <a:prstGeom prst="rect">
            <a:avLst/>
          </a:prstGeom>
          <a:noFill/>
        </p:spPr>
        <p:txBody>
          <a:bodyPr wrap="square" lIns="0" tIns="0">
            <a:spAutoFit/>
          </a:bodyPr>
          <a:lstStyle/>
          <a:p>
            <a:pPr>
              <a:spcAft>
                <a:spcPts val="1200"/>
              </a:spcAft>
            </a:pPr>
            <a:r>
              <a:rPr sz="1150" b="1">
                <a:solidFill>
                  <a:srgbClr val="0F1E3C"/>
                </a:solidFill>
                <a:latin typeface="Segoe UI"/>
              </a:rPr>
              <a:t>Nhóm sẵn sàng giải trình các câu hỏi kỹ thuật về:</a:t>
            </a:r>
            <a:r>
              <a:rPr sz="1150" b="0">
                <a:solidFill>
                  <a:srgbClr val="0F172A"/>
                </a:solidFill>
                <a:latin typeface="Segoe UI"/>
              </a:rPr>
              <a:t/>
            </a:r>
          </a:p>
          <a:p>
            <a:pPr>
              <a:spcAft>
                <a:spcPts val="1200"/>
              </a:spcAft>
            </a:pPr>
            <a:r>
              <a:rPr sz="1150">
                <a:solidFill>
                  <a:srgbClr val="0F172A"/>
                </a:solidFill>
                <a:latin typeface="Segoe UI"/>
              </a:rPr>
              <a:t>1. Cơ sở vật lý của việc giữ EC/NPK = 0 khi đất khô dưới 12%.</a:t>
            </a:r>
          </a:p>
          <a:p>
            <a:pPr>
              <a:spcAft>
                <a:spcPts val="1200"/>
              </a:spcAft>
            </a:pPr>
            <a:r>
              <a:rPr sz="1150">
                <a:solidFill>
                  <a:srgbClr val="0F172A"/>
                </a:solidFill>
                <a:latin typeface="Segoe UI"/>
              </a:rPr>
              <a:t>2. Thuật toán Hampel MAD thích ứng 24h và cơ chế đồng thuận 3/4 biến bón phân.</a:t>
            </a:r>
          </a:p>
          <a:p>
            <a:pPr>
              <a:spcAft>
                <a:spcPts val="1200"/>
              </a:spcAft>
            </a:pPr>
            <a:r>
              <a:rPr sz="1150">
                <a:solidFill>
                  <a:srgbClr val="0F172A"/>
                </a:solidFill>
                <a:latin typeface="Segoe UI"/>
              </a:rPr>
              <a:t>3. Lý do lựa chọn Linear cho đoạn ngắn &lt;= 3h và MICE cho đoạn dài của 1 cảm biến.</a:t>
            </a:r>
          </a:p>
          <a:p>
            <a:pPr>
              <a:spcAft>
                <a:spcPts val="1200"/>
              </a:spcAft>
            </a:pPr>
            <a:r>
              <a:rPr sz="1150">
                <a:solidFill>
                  <a:srgbClr val="0F172A"/>
                </a:solidFill>
                <a:latin typeface="Segoe UI"/>
              </a:rPr>
              <a:t>4. Chiến lược Direct Knots kèm dải bất định P10 - P90 và hiệu quả của mô hình XGBoost.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uit.png"/>
          <p:cNvPicPr>
            <a:picLocks noChangeAspect="1"/>
          </p:cNvPicPr>
          <p:nvPr/>
        </p:nvPicPr>
        <p:blipFill>
          <a:blip r:embed="rId2"/>
          <a:stretch>
            <a:fillRect/>
          </a:stretch>
        </p:blipFill>
        <p:spPr>
          <a:xfrm>
            <a:off x="548640" y="320040"/>
            <a:ext cx="498302" cy="594360"/>
          </a:xfrm>
          <a:prstGeom prst="rect">
            <a:avLst/>
          </a:prstGeom>
        </p:spPr>
      </p:pic>
      <p:sp>
        <p:nvSpPr>
          <p:cNvPr id="3" name="TextBox 2"/>
          <p:cNvSpPr txBox="1"/>
          <p:nvPr/>
        </p:nvSpPr>
        <p:spPr>
          <a:xfrm>
            <a:off x="1234440" y="320040"/>
            <a:ext cx="5029200" cy="640080"/>
          </a:xfrm>
          <a:prstGeom prst="rect">
            <a:avLst/>
          </a:prstGeom>
          <a:noFill/>
        </p:spPr>
        <p:txBody>
          <a:bodyPr wrap="square" lIns="0" tIns="0" rIns="0" bIns="0">
            <a:spAutoFit/>
          </a:bodyPr>
          <a:lstStyle/>
          <a:p>
            <a:pPr>
              <a:defRPr sz="850" b="0">
                <a:solidFill>
                  <a:srgbClr val="64748B"/>
                </a:solidFill>
                <a:latin typeface="Segoe UI"/>
              </a:defRPr>
            </a:pPr>
            <a:r>
              <a:t>ĐẠI HỌC QUỐC GIA TP. HỒ CHÍ MINH</a:t>
            </a:r>
          </a:p>
          <a:p>
            <a:pPr>
              <a:defRPr sz="1150" b="1">
                <a:solidFill>
                  <a:srgbClr val="1B4F9A"/>
                </a:solidFill>
                <a:latin typeface="Segoe UI"/>
              </a:defRPr>
            </a:pPr>
            <a:r>
              <a:t>TRƯỜNG ĐẠI HỌC CÔNG NGHỆ THÔNG TIN</a:t>
            </a:r>
          </a:p>
        </p:txBody>
      </p:sp>
      <p:sp>
        <p:nvSpPr>
          <p:cNvPr id="4" name="TextBox 3"/>
          <p:cNvSpPr txBox="1"/>
          <p:nvPr/>
        </p:nvSpPr>
        <p:spPr>
          <a:xfrm>
            <a:off x="548640" y="6446520"/>
            <a:ext cx="5486400" cy="320040"/>
          </a:xfrm>
          <a:prstGeom prst="rect">
            <a:avLst/>
          </a:prstGeom>
          <a:noFill/>
        </p:spPr>
        <p:txBody>
          <a:bodyPr wrap="square" lIns="0" tIns="0" rIns="0" bIns="0">
            <a:spAutoFit/>
          </a:bodyPr>
          <a:lstStyle/>
          <a:p>
            <a:pPr>
              <a:defRPr sz="850">
                <a:solidFill>
                  <a:srgbClr val="94A3B8"/>
                </a:solidFill>
                <a:latin typeface="Segoe UI"/>
              </a:defRPr>
            </a:pPr>
            <a:r>
              <a:t>Trường Đại học Công nghệ Thông tin · ĐHQG-TPHCM</a:t>
            </a:r>
          </a:p>
        </p:txBody>
      </p:sp>
      <p:sp>
        <p:nvSpPr>
          <p:cNvPr id="5" name="TextBox 4"/>
          <p:cNvSpPr txBox="1"/>
          <p:nvPr/>
        </p:nvSpPr>
        <p:spPr>
          <a:xfrm>
            <a:off x="548640" y="1051560"/>
            <a:ext cx="10972800" cy="731520"/>
          </a:xfrm>
          <a:prstGeom prst="rect">
            <a:avLst/>
          </a:prstGeom>
          <a:noFill/>
        </p:spPr>
        <p:txBody>
          <a:bodyPr wrap="square" lIns="0" tIns="0">
            <a:spAutoFit/>
          </a:bodyPr>
          <a:lstStyle/>
          <a:p>
            <a:pPr>
              <a:defRPr sz="1700" b="1">
                <a:solidFill>
                  <a:srgbClr val="0F1E3C"/>
                </a:solidFill>
                <a:latin typeface="Segoe UI"/>
              </a:defRPr>
            </a:pPr>
            <a:r>
              <a:t>23. Tài Liệu Tham Khảo &amp; Lời Cảm Ơn</a:t>
            </a:r>
          </a:p>
          <a:p>
            <a:pPr>
              <a:defRPr sz="1000" i="1">
                <a:solidFill>
                  <a:srgbClr val="1B4F9A"/>
                </a:solidFill>
                <a:latin typeface="Segoe UI"/>
              </a:defRPr>
            </a:pPr>
            <a:r>
              <a:t>Trường Đại học Công nghệ Thông tin — Đại học Quốc gia TP.HCM</a:t>
            </a:r>
          </a:p>
        </p:txBody>
      </p:sp>
      <p:sp>
        <p:nvSpPr>
          <p:cNvPr id="6" name="TextBox 5"/>
          <p:cNvSpPr txBox="1"/>
          <p:nvPr/>
        </p:nvSpPr>
        <p:spPr>
          <a:xfrm>
            <a:off x="548640" y="1828800"/>
            <a:ext cx="10972800" cy="4389120"/>
          </a:xfrm>
          <a:prstGeom prst="rect">
            <a:avLst/>
          </a:prstGeom>
          <a:noFill/>
        </p:spPr>
        <p:txBody>
          <a:bodyPr wrap="square" lIns="0" tIns="0">
            <a:spAutoFit/>
          </a:bodyPr>
          <a:lstStyle/>
          <a:p>
            <a:pPr>
              <a:spcAft>
                <a:spcPts val="1200"/>
              </a:spcAft>
            </a:pPr>
            <a:r>
              <a:rPr sz="1150">
                <a:solidFill>
                  <a:srgbClr val="0F172A"/>
                </a:solidFill>
                <a:latin typeface="Segoe UI"/>
              </a:rPr>
              <a:t>Hampel, F. R. (1974). The influence curve and its role in robust estimation. JASA.</a:t>
            </a:r>
          </a:p>
          <a:p>
            <a:pPr>
              <a:spcAft>
                <a:spcPts val="1200"/>
              </a:spcAft>
            </a:pPr>
            <a:r>
              <a:rPr sz="1150" b="1">
                <a:solidFill>
                  <a:srgbClr val="0F1E3C"/>
                </a:solidFill>
                <a:latin typeface="Segoe UI"/>
              </a:rPr>
              <a:t>van Buuren, S. (2011). mice:</a:t>
            </a:r>
            <a:r>
              <a:rPr sz="1150" b="0">
                <a:solidFill>
                  <a:srgbClr val="0F172A"/>
                </a:solidFill>
                <a:latin typeface="Segoe UI"/>
              </a:rPr>
              <a:t> Multivariate Imputation by Chained Equations in R. JSS.</a:t>
            </a:r>
          </a:p>
          <a:p>
            <a:pPr>
              <a:spcAft>
                <a:spcPts val="1200"/>
              </a:spcAft>
            </a:pPr>
            <a:r>
              <a:rPr sz="1150" b="1">
                <a:solidFill>
                  <a:srgbClr val="0F1E3C"/>
                </a:solidFill>
                <a:latin typeface="Segoe UI"/>
              </a:rPr>
              <a:t>Chen, T., &amp; Guestrin, C. (2016). XGBoost:</a:t>
            </a:r>
            <a:r>
              <a:rPr sz="1150" b="0">
                <a:solidFill>
                  <a:srgbClr val="0F172A"/>
                </a:solidFill>
                <a:latin typeface="Segoe UI"/>
              </a:rPr>
              <a:t> A scalable tree boosting system. KDD.</a:t>
            </a:r>
          </a:p>
          <a:p>
            <a:pPr>
              <a:spcAft>
                <a:spcPts val="1200"/>
              </a:spcAft>
            </a:pPr>
            <a:r>
              <a:rPr sz="1150" b="1">
                <a:solidFill>
                  <a:srgbClr val="0F1E3C"/>
                </a:solidFill>
                <a:latin typeface="Segoe UI"/>
              </a:rPr>
              <a:t>Hyndman, R. J., &amp; Athanasopoulos, G. (2018). Forecasting:</a:t>
            </a:r>
            <a:r>
              <a:rPr sz="1150" b="0">
                <a:solidFill>
                  <a:srgbClr val="0F172A"/>
                </a:solidFill>
                <a:latin typeface="Segoe UI"/>
              </a:rPr>
              <a:t> principles and practice. OTexts.</a:t>
            </a:r>
          </a:p>
          <a:p>
            <a:pPr>
              <a:spcAft>
                <a:spcPts val="1200"/>
              </a:spcAft>
            </a:pPr>
            <a:r>
              <a:rPr sz="1150">
                <a:solidFill>
                  <a:srgbClr val="0F172A"/>
                </a:solidFill>
                <a:latin typeface="Segoe UI"/>
              </a:rPr>
              <a:t>Chân thành cảm ơn Khoa Kỹ thuật Máy tính &amp; Bộ môn Hệ thống Thông tin — UIT.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